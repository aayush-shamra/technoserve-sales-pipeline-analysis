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4" name="Shape 104"/>
          <p:cNvSpPr/>
          <p:nvPr>
            <p:ph type="sldImg"/>
          </p:nvPr>
        </p:nvSpPr>
        <p:spPr>
          <a:xfrm>
            <a:off x="1143000" y="685800"/>
            <a:ext cx="4572000" cy="3429000"/>
          </a:xfrm>
          <a:prstGeom prst="rect">
            <a:avLst/>
          </a:prstGeom>
        </p:spPr>
        <p:txBody>
          <a:bodyPr/>
          <a:lstStyle/>
          <a:p>
            <a:pPr/>
          </a:p>
        </p:txBody>
      </p:sp>
      <p:sp>
        <p:nvSpPr>
          <p:cNvPr id="105" name="Shape 10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lvl1pPr>
              <a:defRPr sz="1200">
                <a:latin typeface="Lato Regular"/>
                <a:ea typeface="Lato Regular"/>
                <a:cs typeface="Lato Regular"/>
                <a:sym typeface="Lato Regular"/>
              </a:defRPr>
            </a:lvl1pPr>
          </a:lstStyle>
          <a:p>
            <a:pPr/>
            <a:r>
              <a:t>Problem Statement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Provide at least three questions under each branch.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p>
            <a:pPr marL="457200" indent="-228600">
              <a:buClr>
                <a:srgbClr val="000000"/>
              </a:buClr>
              <a:buSzPts val="1200"/>
              <a:buFont typeface="Lato Regular"/>
              <a:buChar char="-"/>
              <a:defRPr sz="1200">
                <a:latin typeface="Lato Regular"/>
                <a:ea typeface="Lato Regular"/>
                <a:cs typeface="Lato Regular"/>
                <a:sym typeface="Lato Regular"/>
              </a:defRPr>
            </a:pPr>
            <a:r>
              <a:t>All the frameworks that are used should be mentioned.</a:t>
            </a:r>
          </a:p>
          <a:p>
            <a:pPr marL="457200" indent="-228600">
              <a:buClr>
                <a:srgbClr val="000000"/>
              </a:buClr>
              <a:buSzPts val="1200"/>
              <a:buFont typeface="Lato Regular"/>
              <a:buChar char="-"/>
              <a:defRPr sz="1200">
                <a:latin typeface="Lato Regular"/>
                <a:ea typeface="Lato Regular"/>
                <a:cs typeface="Lato Regular"/>
                <a:sym typeface="Lato Regular"/>
              </a:defRPr>
            </a:pPr>
            <a:r>
              <a:t>A suitable reason is a must to provide here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p>
            <a:pPr marL="457200" indent="-228600">
              <a:buClr>
                <a:srgbClr val="000000"/>
              </a:buClr>
              <a:buSzPts val="1200"/>
              <a:buFont typeface="Lato Regular"/>
              <a:buChar char="-"/>
              <a:defRPr sz="1200">
                <a:latin typeface="Lato Regular"/>
                <a:ea typeface="Lato Regular"/>
                <a:cs typeface="Lato Regular"/>
                <a:sym typeface="Lato Regular"/>
              </a:defRPr>
            </a:pPr>
            <a:r>
              <a:t>Use the “download as” feature of Coggle if you are using the tool.</a:t>
            </a:r>
          </a:p>
          <a:p>
            <a:pPr marL="457200" indent="-228600">
              <a:buClr>
                <a:srgbClr val="000000"/>
              </a:buClr>
              <a:buSzPts val="1200"/>
              <a:buFont typeface="Lato Regular"/>
              <a:buChar char="-"/>
              <a:defRPr sz="1200">
                <a:latin typeface="Lato Regular"/>
                <a:ea typeface="Lato Regular"/>
                <a:cs typeface="Lato Regular"/>
                <a:sym typeface="Lato Regular"/>
              </a:defRPr>
            </a:pPr>
            <a:r>
              <a:t>Provide one image with complete tree along with separate elements where the text is readable.</a:t>
            </a:r>
          </a:p>
          <a:p>
            <a:pPr marL="457200" indent="-228600">
              <a:buClr>
                <a:srgbClr val="000000"/>
              </a:buClr>
              <a:buSzPts val="1200"/>
              <a:buFont typeface="Arial"/>
              <a:buChar char="-"/>
              <a:defRPr sz="1200">
                <a:latin typeface="Lato Regular"/>
                <a:ea typeface="Lato Regular"/>
                <a:cs typeface="Lato Regular"/>
                <a:sym typeface="Lato Regular"/>
              </a:defRPr>
            </a:pPr>
            <a:r>
              <a:t>Copy the slide if you require more space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marL="457200" indent="-228600">
              <a:buClr>
                <a:srgbClr val="000000"/>
              </a:buClr>
              <a:buSzPts val="1200"/>
              <a:buFont typeface="Lato Regular"/>
              <a:buChar char="-"/>
              <a:defRPr sz="1200">
                <a:latin typeface="Lato Regular"/>
                <a:ea typeface="Lato Regular"/>
                <a:cs typeface="Lato Regular"/>
                <a:sym typeface="Lato Regular"/>
              </a:defRPr>
            </a:pPr>
            <a:r>
              <a:t>Each branch must follow this naming pattern:</a:t>
            </a:r>
            <a:br/>
            <a:r>
              <a:t>Problem – Branch 1 – Sub-branch 1 – Sub-branch 2 – …… – Hypotheses </a:t>
            </a:r>
          </a:p>
          <a:p>
            <a:pPr marL="457200" indent="-228600">
              <a:buClr>
                <a:srgbClr val="000000"/>
              </a:buClr>
              <a:buSzPts val="1200"/>
              <a:buFont typeface="Lato Regular"/>
              <a:buChar char="-"/>
              <a:defRPr sz="1200">
                <a:latin typeface="Lato Regular"/>
                <a:ea typeface="Lato Regular"/>
                <a:cs typeface="Lato Regular"/>
                <a:sym typeface="Lato Regular"/>
              </a:defRPr>
            </a:pPr>
            <a:r>
              <a:t>There must be minimum 10 hypotheses in total and at least 1 in each branch.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marL="457200" indent="-228600">
              <a:buClr>
                <a:srgbClr val="000000"/>
              </a:buClr>
              <a:buSzPts val="1200"/>
              <a:buFont typeface="Lato Regular"/>
              <a:buChar char="-"/>
              <a:defRPr sz="1200">
                <a:latin typeface="Lato Regular"/>
                <a:ea typeface="Lato Regular"/>
                <a:cs typeface="Lato Regular"/>
                <a:sym typeface="Lato Regular"/>
              </a:defRPr>
            </a:pPr>
            <a:r>
              <a:t>Each branch must follow this naming pattern:</a:t>
            </a:r>
            <a:br/>
            <a:r>
              <a:t>Problem – Branch 1 – Sub-branch 1 – Sub-branch 2 – …… – Hypotheses </a:t>
            </a:r>
          </a:p>
          <a:p>
            <a:pPr marL="457200" indent="-228600">
              <a:buClr>
                <a:srgbClr val="000000"/>
              </a:buClr>
              <a:buSzPts val="1200"/>
              <a:buFont typeface="Lato Regular"/>
              <a:buChar char="-"/>
              <a:defRPr sz="1200">
                <a:latin typeface="Lato Regular"/>
                <a:ea typeface="Lato Regular"/>
                <a:cs typeface="Lato Regular"/>
                <a:sym typeface="Lato Regular"/>
              </a:defRPr>
            </a:pPr>
            <a:r>
              <a:t>There must be minimum 10 hypotheses in total and at least 1 in each branch.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marL="457200" indent="-228600">
              <a:buClr>
                <a:srgbClr val="000000"/>
              </a:buClr>
              <a:buSzPts val="1200"/>
              <a:buFont typeface="Lato Regular"/>
              <a:buChar char="-"/>
              <a:defRPr sz="1200">
                <a:latin typeface="Lato Regular"/>
                <a:ea typeface="Lato Regular"/>
                <a:cs typeface="Lato Regular"/>
                <a:sym typeface="Lato Regular"/>
              </a:defRPr>
            </a:pPr>
            <a:r>
              <a:t>Each branch must follow this naming pattern:</a:t>
            </a:r>
            <a:br/>
            <a:r>
              <a:t>Problem – Branch 1 – Sub-branch 1 – Sub-branch 2 – …… – Hypotheses </a:t>
            </a:r>
          </a:p>
          <a:p>
            <a:pPr marL="457200" indent="-228600">
              <a:buClr>
                <a:srgbClr val="000000"/>
              </a:buClr>
              <a:buSzPts val="1200"/>
              <a:buFont typeface="Lato Regular"/>
              <a:buChar char="-"/>
              <a:defRPr sz="1200">
                <a:latin typeface="Lato Regular"/>
                <a:ea typeface="Lato Regular"/>
                <a:cs typeface="Lato Regular"/>
                <a:sym typeface="Lato Regular"/>
              </a:defRPr>
            </a:pPr>
            <a:r>
              <a:t>There must be minimum 10 hypotheses in total and at least 1 in each branch.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Analyse the variables in the dataset, find the insights and mention the pattern of insights in the data. Make more copies of this slide if needed.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 Make more copies of this slide if needed.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For each recommendation explain the insights that form the reasoning for giving that recommendation. Make more copies of this slide if necessary.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You are free to use the elements and boxes mentioned previously. Make sure you’re using the pyramid principle, data visualization, visual design principle and storyboarding concepts to design these slides.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You are free to use the elements and boxes mentioned previously. Make sure you’re using the pyramid principle, data visualization, visual design principle and storyboarding concepts to design these slides.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hape 247"/>
          <p:cNvSpPr/>
          <p:nvPr>
            <p:ph type="sldImg"/>
          </p:nvPr>
        </p:nvSpPr>
        <p:spPr>
          <a:prstGeom prst="rect">
            <a:avLst/>
          </a:prstGeom>
        </p:spPr>
        <p:txBody>
          <a:bodyPr/>
          <a:lstStyle/>
          <a:p>
            <a:pPr/>
          </a:p>
        </p:txBody>
      </p:sp>
      <p:sp>
        <p:nvSpPr>
          <p:cNvPr id="248" name="Shape 248"/>
          <p:cNvSpPr/>
          <p:nvPr>
            <p:ph type="body" sz="quarter" idx="1"/>
          </p:nvPr>
        </p:nvSpPr>
        <p:spPr>
          <a:prstGeom prst="rect">
            <a:avLst/>
          </a:prstGeom>
        </p:spPr>
        <p:txBody>
          <a:bodyPr/>
          <a:lstStyle>
            <a:lvl1pPr marL="228600">
              <a:defRPr sz="1200">
                <a:latin typeface="Lato Regular"/>
                <a:ea typeface="Lato Regular"/>
                <a:cs typeface="Lato Regular"/>
                <a:sym typeface="Lato Regular"/>
              </a:defRPr>
            </a:lvl1pPr>
          </a:lstStyle>
          <a:p>
            <a:pPr/>
            <a:r>
              <a:t>You are free to use the elements and boxes mentioned previously. Make sure you’re using the pyramid principle, data visualization, visual design principle and storyboarding concepts to design these slides.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20"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21" name="Body Level One…"/>
          <p:cNvSpPr txBox="1"/>
          <p:nvPr>
            <p:ph type="body" sz="quarter" idx="1"/>
          </p:nvPr>
        </p:nvSpPr>
        <p:spPr>
          <a:xfrm>
            <a:off x="1524000" y="3602037"/>
            <a:ext cx="9144000" cy="1655763"/>
          </a:xfrm>
          <a:prstGeom prst="rect">
            <a:avLst/>
          </a:prstGeom>
        </p:spPr>
        <p:txBody>
          <a:bodyPr/>
          <a:lstStyle>
            <a:lvl1pPr marL="406400" indent="-355600" algn="ctr">
              <a:buClrTx/>
              <a:buSzTx/>
              <a:buFontTx/>
              <a:buNone/>
              <a:defRPr sz="2400"/>
            </a:lvl1pPr>
            <a:lvl2pPr marL="406400" indent="127000" algn="ctr">
              <a:buClrTx/>
              <a:buSzTx/>
              <a:buFontTx/>
              <a:buNone/>
              <a:defRPr sz="2400"/>
            </a:lvl2pPr>
            <a:lvl3pPr marL="406400" indent="609600" algn="ctr">
              <a:buClrTx/>
              <a:buSzTx/>
              <a:buFontTx/>
              <a:buNone/>
              <a:defRPr sz="2400"/>
            </a:lvl3pPr>
            <a:lvl4pPr marL="406400" indent="1079500" algn="ctr">
              <a:buClrTx/>
              <a:buSzTx/>
              <a:buFontTx/>
              <a:buNone/>
              <a:defRPr sz="2400"/>
            </a:lvl4pPr>
            <a:lvl5pPr marL="406400" indent="1536700" algn="ctr">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Google Shape;36;p5"/>
          <p:cNvSpPr txBox="1"/>
          <p:nvPr>
            <p:ph type="body" sz="half" idx="21"/>
          </p:nvPr>
        </p:nvSpPr>
        <p:spPr>
          <a:xfrm>
            <a:off x="6172200" y="1825625"/>
            <a:ext cx="5181600" cy="4351338"/>
          </a:xfrm>
          <a:prstGeom prst="rect">
            <a:avLst/>
          </a:prstGeom>
        </p:spPr>
        <p:txBody>
          <a:bodyPr/>
          <a:lstStyle/>
          <a:p>
            <a:pP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48" name="Title Text"/>
          <p:cNvSpPr txBox="1"/>
          <p:nvPr>
            <p:ph type="title"/>
          </p:nvPr>
        </p:nvSpPr>
        <p:spPr>
          <a:xfrm>
            <a:off x="839787" y="365125"/>
            <a:ext cx="10515601" cy="1325563"/>
          </a:xfrm>
          <a:prstGeom prst="rect">
            <a:avLst/>
          </a:prstGeom>
        </p:spPr>
        <p:txBody>
          <a:bodyPr/>
          <a:lstStyle/>
          <a:p>
            <a:pPr/>
            <a:r>
              <a:t>Title Text</a:t>
            </a:r>
          </a:p>
        </p:txBody>
      </p:sp>
      <p:sp>
        <p:nvSpPr>
          <p:cNvPr id="49"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sz="2400">
                <a:latin typeface="Lato Bold"/>
                <a:ea typeface="Lato Bold"/>
                <a:cs typeface="Lato Bold"/>
                <a:sym typeface="Lato Bold"/>
              </a:defRPr>
            </a:lvl1pPr>
            <a:lvl2pPr marL="228600" indent="457200">
              <a:buClrTx/>
              <a:buSzTx/>
              <a:buFontTx/>
              <a:buNone/>
              <a:defRPr sz="2400">
                <a:latin typeface="Lato Bold"/>
                <a:ea typeface="Lato Bold"/>
                <a:cs typeface="Lato Bold"/>
                <a:sym typeface="Lato Bold"/>
              </a:defRPr>
            </a:lvl2pPr>
            <a:lvl3pPr marL="228600" indent="914400">
              <a:buClrTx/>
              <a:buSzTx/>
              <a:buFontTx/>
              <a:buNone/>
              <a:defRPr sz="2400">
                <a:latin typeface="Lato Bold"/>
                <a:ea typeface="Lato Bold"/>
                <a:cs typeface="Lato Bold"/>
                <a:sym typeface="Lato Bold"/>
              </a:defRPr>
            </a:lvl3pPr>
            <a:lvl4pPr marL="228600" indent="1371600">
              <a:buClrTx/>
              <a:buSzTx/>
              <a:buFontTx/>
              <a:buNone/>
              <a:defRPr sz="2400">
                <a:latin typeface="Lato Bold"/>
                <a:ea typeface="Lato Bold"/>
                <a:cs typeface="Lato Bold"/>
                <a:sym typeface="Lato Bold"/>
              </a:defRPr>
            </a:lvl4pPr>
            <a:lvl5pPr marL="228600" indent="1828800">
              <a:buClrTx/>
              <a:buSzTx/>
              <a:buFontTx/>
              <a:buNone/>
              <a:defRPr sz="2400">
                <a:latin typeface="Lato Bold"/>
                <a:ea typeface="Lato Bold"/>
                <a:cs typeface="Lato Bold"/>
                <a:sym typeface="Lato Bold"/>
              </a:defRPr>
            </a:lvl5pPr>
          </a:lstStyle>
          <a:p>
            <a:pPr/>
            <a:r>
              <a:t>Body Level One</a:t>
            </a:r>
          </a:p>
          <a:p>
            <a:pPr lvl="1"/>
            <a:r>
              <a:t>Body Level Two</a:t>
            </a:r>
          </a:p>
          <a:p>
            <a:pPr lvl="2"/>
            <a:r>
              <a:t>Body Level Three</a:t>
            </a:r>
          </a:p>
          <a:p>
            <a:pPr lvl="3"/>
            <a:r>
              <a:t>Body Level Four</a:t>
            </a:r>
          </a:p>
          <a:p>
            <a:pPr lvl="4"/>
            <a:r>
              <a:t>Body Level Five</a:t>
            </a:r>
          </a:p>
        </p:txBody>
      </p:sp>
      <p:sp>
        <p:nvSpPr>
          <p:cNvPr id="50" name="Google Shape;43;p6"/>
          <p:cNvSpPr txBox="1"/>
          <p:nvPr>
            <p:ph type="body" sz="half" idx="21"/>
          </p:nvPr>
        </p:nvSpPr>
        <p:spPr>
          <a:xfrm>
            <a:off x="839787" y="2505075"/>
            <a:ext cx="5157788" cy="3684588"/>
          </a:xfrm>
          <a:prstGeom prst="rect">
            <a:avLst/>
          </a:prstGeom>
        </p:spPr>
        <p:txBody>
          <a:bodyPr/>
          <a:lstStyle/>
          <a:p>
            <a:pPr/>
          </a:p>
        </p:txBody>
      </p:sp>
      <p:sp>
        <p:nvSpPr>
          <p:cNvPr id="51" name="Google Shape;44;p6"/>
          <p:cNvSpPr txBox="1"/>
          <p:nvPr>
            <p:ph type="body" sz="quarter" idx="22"/>
          </p:nvPr>
        </p:nvSpPr>
        <p:spPr>
          <a:xfrm>
            <a:off x="6172200" y="1681163"/>
            <a:ext cx="5183188" cy="823913"/>
          </a:xfrm>
          <a:prstGeom prst="rect">
            <a:avLst/>
          </a:prstGeom>
        </p:spPr>
        <p:txBody>
          <a:bodyPr anchor="b"/>
          <a:lstStyle/>
          <a:p>
            <a:pPr marL="228600" indent="0">
              <a:buClrTx/>
              <a:buSzTx/>
              <a:buFontTx/>
              <a:buNone/>
              <a:defRPr sz="2400">
                <a:latin typeface="Lato Bold"/>
                <a:ea typeface="Lato Bold"/>
                <a:cs typeface="Lato Bold"/>
                <a:sym typeface="Lato Bold"/>
              </a:defRPr>
            </a:pPr>
          </a:p>
        </p:txBody>
      </p:sp>
      <p:sp>
        <p:nvSpPr>
          <p:cNvPr id="52" name="Google Shape;45;p6"/>
          <p:cNvSpPr txBox="1"/>
          <p:nvPr>
            <p:ph type="body" sz="half" idx="23"/>
          </p:nvPr>
        </p:nvSpPr>
        <p:spPr>
          <a:xfrm>
            <a:off x="6172200" y="2505075"/>
            <a:ext cx="5183188" cy="3684588"/>
          </a:xfrm>
          <a:prstGeom prst="rect">
            <a:avLst/>
          </a:prstGeom>
        </p:spPr>
        <p:txBody>
          <a:bodyPr/>
          <a:lstStyle/>
          <a:p>
            <a:pP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67"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68"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69" name="Google Shape;56;p8"/>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77"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8" name="Google Shape;62;p9"/>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79"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87" name="Title Text"/>
          <p:cNvSpPr txBox="1"/>
          <p:nvPr>
            <p:ph type="title"/>
          </p:nvPr>
        </p:nvSpPr>
        <p:spPr>
          <a:prstGeom prst="rect">
            <a:avLst/>
          </a:prstGeom>
        </p:spPr>
        <p:txBody>
          <a:bodyPr/>
          <a:lstStyle/>
          <a:p>
            <a:pPr/>
            <a:r>
              <a:t>Title Text</a:t>
            </a:r>
          </a:p>
        </p:txBody>
      </p:sp>
      <p:sp>
        <p:nvSpPr>
          <p:cNvPr id="88"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96" name="Title Text"/>
          <p:cNvSpPr txBox="1"/>
          <p:nvPr>
            <p:ph type="title"/>
          </p:nvPr>
        </p:nvSpPr>
        <p:spPr>
          <a:xfrm rot="5400000">
            <a:off x="7133431" y="1956593"/>
            <a:ext cx="5811839" cy="2628901"/>
          </a:xfrm>
          <a:prstGeom prst="rect">
            <a:avLst/>
          </a:prstGeom>
        </p:spPr>
        <p:txBody>
          <a:bodyPr/>
          <a:lstStyle/>
          <a:p>
            <a:pPr/>
            <a:r>
              <a:t>Title Text</a:t>
            </a:r>
          </a:p>
        </p:txBody>
      </p:sp>
      <p:sp>
        <p:nvSpPr>
          <p:cNvPr id="97"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72916" y="6397962"/>
            <a:ext cx="280884"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Lato Regular"/>
                <a:ea typeface="Lato Regular"/>
                <a:cs typeface="Lato Regular"/>
                <a:sym typeface="Lato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Regular"/>
          <a:ea typeface="Lato Regular"/>
          <a:cs typeface="Lato Regular"/>
          <a:sym typeface="Lato Regular"/>
        </a:defRPr>
      </a:lvl9pPr>
    </p:titleStyle>
    <p:bodyStyle>
      <a:lvl1pPr marL="457200" marR="0" indent="-406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1pPr>
      <a:lvl2pPr marL="977900" marR="0" indent="-4445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2pPr>
      <a:lvl3pPr marL="1513839" marR="0" indent="-497839"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Lato Regular"/>
          <a:ea typeface="Lato Regular"/>
          <a:cs typeface="Lato Regular"/>
          <a:sym typeface="Lato Regular"/>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Lato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Google Shape;93;p13"/>
          <p:cNvSpPr txBox="1"/>
          <p:nvPr>
            <p:ph type="body" idx="1"/>
          </p:nvPr>
        </p:nvSpPr>
        <p:spPr>
          <a:xfrm>
            <a:off x="838200" y="1772849"/>
            <a:ext cx="10515601" cy="3312302"/>
          </a:xfrm>
          <a:prstGeom prst="rect">
            <a:avLst/>
          </a:prstGeom>
        </p:spPr>
        <p:txBody>
          <a:bodyPr/>
          <a:lstStyle/>
          <a:p>
            <a:pPr marL="0" indent="50800">
              <a:buSzTx/>
              <a:buNone/>
              <a:defRPr sz="2400">
                <a:solidFill>
                  <a:srgbClr val="EF413D"/>
                </a:solidFill>
              </a:defRPr>
            </a:pPr>
            <a:r>
              <a:t>Problem Statement</a:t>
            </a:r>
            <a:br/>
            <a:r>
              <a:rPr sz="1400">
                <a:solidFill>
                  <a:srgbClr val="000000"/>
                </a:solidFill>
              </a:rPr>
              <a:t> </a:t>
            </a:r>
            <a:br>
              <a:rPr sz="1400">
                <a:solidFill>
                  <a:srgbClr val="000000"/>
                </a:solidFill>
              </a:rPr>
            </a:br>
            <a:r>
              <a:rPr sz="2000">
                <a:solidFill>
                  <a:srgbClr val="5A5A5A"/>
                </a:solidFill>
              </a:rPr>
              <a:t>The sales pipeline conversion percentage at TechnoServe (a tech SaaS startup) has dropped from 35% at the end of last fiscal (FY 2017-18) to 25% at present.</a:t>
            </a:r>
            <a:endParaRPr sz="2000">
              <a:solidFill>
                <a:srgbClr val="5A5A5A"/>
              </a:solidFill>
            </a:endParaRPr>
          </a:p>
          <a:p>
            <a:pPr marL="0" indent="50800">
              <a:buSzTx/>
              <a:buNone/>
              <a:defRPr sz="2000">
                <a:solidFill>
                  <a:srgbClr val="5A5A5A"/>
                </a:solidFill>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Google Shape;99;p14"/>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12" name="Rectangle"/>
          <p:cNvSpPr/>
          <p:nvPr/>
        </p:nvSpPr>
        <p:spPr>
          <a:xfrm>
            <a:off x="589265" y="2008707"/>
            <a:ext cx="2041201" cy="4680002"/>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13" name="Who?…"/>
          <p:cNvSpPr txBox="1"/>
          <p:nvPr/>
        </p:nvSpPr>
        <p:spPr>
          <a:xfrm>
            <a:off x="639752" y="2013469"/>
            <a:ext cx="1940226" cy="17297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Who?</a:t>
            </a: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TechnoServe is a B2B tech SaaS startup. The people involved are the sales team, marketing team, and their enterprise/SMB clients across 7 Indian cities.</a:t>
            </a:r>
          </a:p>
        </p:txBody>
      </p:sp>
      <p:sp>
        <p:nvSpPr>
          <p:cNvPr id="114" name="Rectangle"/>
          <p:cNvSpPr/>
          <p:nvPr/>
        </p:nvSpPr>
        <p:spPr>
          <a:xfrm>
            <a:off x="2830332" y="2008713"/>
            <a:ext cx="2041201" cy="4680003"/>
          </a:xfrm>
          <a:prstGeom prst="rect">
            <a:avLst/>
          </a:prstGeom>
          <a:ln>
            <a:solidFill>
              <a:srgbClr val="F69492"/>
            </a:solidFill>
          </a:ln>
        </p:spPr>
        <p:txBody>
          <a:bodyPr lIns="45719" rIns="45719"/>
          <a:lstStyle/>
          <a:p>
            <a:pPr/>
          </a:p>
        </p:txBody>
      </p:sp>
      <p:sp>
        <p:nvSpPr>
          <p:cNvPr id="115" name="What?…"/>
          <p:cNvSpPr txBox="1"/>
          <p:nvPr/>
        </p:nvSpPr>
        <p:spPr>
          <a:xfrm>
            <a:off x="2880820" y="2013476"/>
            <a:ext cx="1940226" cy="1882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What?</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The sales pipeline conversion rate has dropped from 35% to 25% currently meaning fewer leads are turning into paying customers.</a:t>
            </a:r>
          </a:p>
        </p:txBody>
      </p:sp>
      <p:grpSp>
        <p:nvGrpSpPr>
          <p:cNvPr id="118" name="Google Shape;103;p14"/>
          <p:cNvGrpSpPr/>
          <p:nvPr/>
        </p:nvGrpSpPr>
        <p:grpSpPr>
          <a:xfrm>
            <a:off x="5071401" y="2008713"/>
            <a:ext cx="2041201" cy="4680003"/>
            <a:chOff x="0" y="0"/>
            <a:chExt cx="2041200" cy="4680001"/>
          </a:xfrm>
        </p:grpSpPr>
        <p:sp>
          <p:nvSpPr>
            <p:cNvPr id="116" name="Rectangle"/>
            <p:cNvSpPr/>
            <p:nvPr/>
          </p:nvSpPr>
          <p:spPr>
            <a:xfrm>
              <a:off x="-1" y="0"/>
              <a:ext cx="2041202" cy="4680002"/>
            </a:xfrm>
            <a:prstGeom prst="rect">
              <a:avLst/>
            </a:prstGeom>
            <a:noFill/>
            <a:ln w="9525" cap="flat">
              <a:solidFill>
                <a:srgbClr val="BFBFBF"/>
              </a:solidFill>
              <a:prstDash val="solid"/>
              <a:round/>
            </a:ln>
            <a:effectLst/>
          </p:spPr>
          <p:txBody>
            <a:bodyPr wrap="square" lIns="45719" tIns="45719" rIns="45719" bIns="45719" numCol="1" anchor="t">
              <a:noAutofit/>
            </a:bodyPr>
            <a:lstStyle/>
            <a:p>
              <a:pPr/>
            </a:p>
          </p:txBody>
        </p:sp>
        <p:sp>
          <p:nvSpPr>
            <p:cNvPr id="117" name="When?…"/>
            <p:cNvSpPr txBox="1"/>
            <p:nvPr/>
          </p:nvSpPr>
          <p:spPr>
            <a:xfrm>
              <a:off x="50487" y="4762"/>
              <a:ext cx="1940226" cy="1666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defRPr sz="1800">
                  <a:latin typeface="Lato Bold"/>
                  <a:ea typeface="Lato Bold"/>
                  <a:cs typeface="Lato Bold"/>
                  <a:sym typeface="Lato Bold"/>
                </a:defRPr>
              </a:pPr>
              <a:r>
                <a:t>When?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The drop happened after the end of FY 2017-18 and is continuing into the present.</a:t>
              </a:r>
            </a:p>
          </p:txBody>
        </p:sp>
      </p:grpSp>
      <p:sp>
        <p:nvSpPr>
          <p:cNvPr id="119" name="Rectangle"/>
          <p:cNvSpPr/>
          <p:nvPr/>
        </p:nvSpPr>
        <p:spPr>
          <a:xfrm>
            <a:off x="9553535" y="2008744"/>
            <a:ext cx="2041201" cy="4680003"/>
          </a:xfrm>
          <a:prstGeom prst="rect">
            <a:avLst/>
          </a:prstGeom>
          <a:ln>
            <a:solidFill>
              <a:srgbClr val="BFBFBF"/>
            </a:solidFill>
          </a:ln>
        </p:spPr>
        <p:txBody>
          <a:bodyPr lIns="45719" rIns="45719"/>
          <a:lstStyle/>
          <a:p>
            <a:pPr/>
          </a:p>
        </p:txBody>
      </p:sp>
      <p:sp>
        <p:nvSpPr>
          <p:cNvPr id="120" name="How?…"/>
          <p:cNvSpPr txBox="1"/>
          <p:nvPr/>
        </p:nvSpPr>
        <p:spPr>
          <a:xfrm>
            <a:off x="9604023" y="2013507"/>
            <a:ext cx="1940226" cy="1882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How?</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The drop is visible in the sales pipeline data  fewer opportunities are reaching "Won" status compared to the previous year.</a:t>
            </a:r>
          </a:p>
        </p:txBody>
      </p:sp>
      <p:sp>
        <p:nvSpPr>
          <p:cNvPr id="121" name="Rectangle"/>
          <p:cNvSpPr/>
          <p:nvPr/>
        </p:nvSpPr>
        <p:spPr>
          <a:xfrm>
            <a:off x="7312468" y="2008726"/>
            <a:ext cx="2041201" cy="4680002"/>
          </a:xfrm>
          <a:prstGeom prst="rect">
            <a:avLst/>
          </a:prstGeom>
          <a:ln>
            <a:solidFill>
              <a:srgbClr val="F69492"/>
            </a:solidFill>
          </a:ln>
        </p:spPr>
        <p:txBody>
          <a:bodyPr lIns="45719" rIns="45719"/>
          <a:lstStyle/>
          <a:p>
            <a:pPr/>
          </a:p>
        </p:txBody>
      </p:sp>
      <p:sp>
        <p:nvSpPr>
          <p:cNvPr id="122" name="Where?…"/>
          <p:cNvSpPr txBox="1"/>
          <p:nvPr/>
        </p:nvSpPr>
        <p:spPr>
          <a:xfrm>
            <a:off x="7362955" y="2013488"/>
            <a:ext cx="1940226" cy="1882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Where?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Across TechnoServe's sales operations in 7 cities: Mumbai, Delhi, Bengaluru, Chennai, Hyderabad, Kolkata, and Pune.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Google Shape;111;p15"/>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grpSp>
        <p:nvGrpSpPr>
          <p:cNvPr id="127" name="Google Shape;113;p15"/>
          <p:cNvGrpSpPr/>
          <p:nvPr/>
        </p:nvGrpSpPr>
        <p:grpSpPr>
          <a:xfrm>
            <a:off x="758976" y="2033313"/>
            <a:ext cx="2550874" cy="4680004"/>
            <a:chOff x="0" y="0"/>
            <a:chExt cx="2550872" cy="4680003"/>
          </a:xfrm>
        </p:grpSpPr>
        <p:sp>
          <p:nvSpPr>
            <p:cNvPr id="125" name="Rectangle"/>
            <p:cNvSpPr/>
            <p:nvPr/>
          </p:nvSpPr>
          <p:spPr>
            <a:xfrm>
              <a:off x="0" y="-1"/>
              <a:ext cx="2550873" cy="4680005"/>
            </a:xfrm>
            <a:prstGeom prst="rect">
              <a:avLst/>
            </a:prstGeom>
            <a:noFill/>
            <a:ln w="9525" cap="flat">
              <a:solidFill>
                <a:srgbClr val="BFBFBF"/>
              </a:solidFill>
              <a:prstDash val="solid"/>
              <a:round/>
            </a:ln>
            <a:effectLst/>
          </p:spPr>
          <p:txBody>
            <a:bodyPr wrap="square" lIns="45719" tIns="45719" rIns="45719" bIns="45719" numCol="1" anchor="t">
              <a:noAutofit/>
            </a:bodyPr>
            <a:lstStyle/>
            <a:p>
              <a:pPr>
                <a:defRPr>
                  <a:latin typeface="Lato Regular"/>
                  <a:ea typeface="Lato Regular"/>
                  <a:cs typeface="Lato Regular"/>
                  <a:sym typeface="Lato Regular"/>
                </a:defRPr>
              </a:pPr>
            </a:p>
          </p:txBody>
        </p:sp>
        <p:sp>
          <p:nvSpPr>
            <p:cNvPr id="126" name="Situation…"/>
            <p:cNvSpPr txBox="1"/>
            <p:nvPr/>
          </p:nvSpPr>
          <p:spPr>
            <a:xfrm>
              <a:off x="50487" y="4762"/>
              <a:ext cx="2449899" cy="2529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defRPr sz="1800">
                  <a:latin typeface="Lato Bold"/>
                  <a:ea typeface="Lato Bold"/>
                  <a:cs typeface="Lato Bold"/>
                  <a:sym typeface="Lato Bold"/>
                </a:defRPr>
              </a:pPr>
              <a:r>
                <a:t>Situation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1.What does your current sales pipeline look like?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2.Which technology solutions make up the majority of your pipeline?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3.How many sales reps do you have and which channels?</a:t>
              </a:r>
            </a:p>
          </p:txBody>
        </p:sp>
      </p:grpSp>
      <p:sp>
        <p:nvSpPr>
          <p:cNvPr id="128" name="Rectangle"/>
          <p:cNvSpPr/>
          <p:nvPr/>
        </p:nvSpPr>
        <p:spPr>
          <a:xfrm>
            <a:off x="3559623" y="2033319"/>
            <a:ext cx="2550874" cy="4680004"/>
          </a:xfrm>
          <a:prstGeom prst="rect">
            <a:avLst/>
          </a:prstGeom>
          <a:ln>
            <a:solidFill>
              <a:srgbClr val="F69492"/>
            </a:solidFill>
          </a:ln>
        </p:spPr>
        <p:txBody>
          <a:bodyPr lIns="45719" rIns="45719"/>
          <a:lstStyle/>
          <a:p>
            <a:pPr/>
          </a:p>
        </p:txBody>
      </p:sp>
      <p:sp>
        <p:nvSpPr>
          <p:cNvPr id="129" name="Problem…"/>
          <p:cNvSpPr txBox="1"/>
          <p:nvPr/>
        </p:nvSpPr>
        <p:spPr>
          <a:xfrm>
            <a:off x="3610111" y="2038081"/>
            <a:ext cx="2449898" cy="3609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Problem</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1.</a:t>
            </a:r>
            <a:r>
              <a:t>At which stage of the sales funnel do most leads drop off or go cold?</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2.Are your reps struggling more with converting new clients or retaining existing ones?</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3.Which sales channels are consistently underperforming and why?</a:t>
            </a:r>
          </a:p>
          <a:p>
            <a:pPr>
              <a:defRPr>
                <a:latin typeface="Lato Regular"/>
                <a:ea typeface="Lato Regular"/>
                <a:cs typeface="Lato Regular"/>
                <a:sym typeface="Lato Regular"/>
              </a:defRPr>
            </a:pPr>
          </a:p>
        </p:txBody>
      </p:sp>
      <p:sp>
        <p:nvSpPr>
          <p:cNvPr id="130" name="Rectangle"/>
          <p:cNvSpPr/>
          <p:nvPr/>
        </p:nvSpPr>
        <p:spPr>
          <a:xfrm>
            <a:off x="6360270" y="2033319"/>
            <a:ext cx="2550874" cy="4680004"/>
          </a:xfrm>
          <a:prstGeom prst="rect">
            <a:avLst/>
          </a:prstGeom>
          <a:ln>
            <a:solidFill>
              <a:srgbClr val="BFBFBF"/>
            </a:solidFill>
          </a:ln>
        </p:spPr>
        <p:txBody>
          <a:bodyPr lIns="45719" rIns="45719"/>
          <a:lstStyle/>
          <a:p>
            <a:pPr/>
          </a:p>
        </p:txBody>
      </p:sp>
      <p:sp>
        <p:nvSpPr>
          <p:cNvPr id="131" name="Implication…"/>
          <p:cNvSpPr txBox="1"/>
          <p:nvPr/>
        </p:nvSpPr>
        <p:spPr>
          <a:xfrm>
            <a:off x="6410757" y="2038081"/>
            <a:ext cx="2449899" cy="3609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Implication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1.</a:t>
            </a:r>
            <a:r>
              <a:t>How much revenue is TechnoServe losing annually due to the 10-point drop in conversion?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2.If the conversion rate keeps falling, how will that affect your annual growth targets?</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3.How is poor conversion affecting team morale and sales rep retention?</a:t>
            </a:r>
          </a:p>
          <a:p>
            <a:pPr>
              <a:defRPr>
                <a:latin typeface="Lato Regular"/>
                <a:ea typeface="Lato Regular"/>
                <a:cs typeface="Lato Regular"/>
                <a:sym typeface="Lato Regular"/>
              </a:defRPr>
            </a:pPr>
          </a:p>
        </p:txBody>
      </p:sp>
      <p:grpSp>
        <p:nvGrpSpPr>
          <p:cNvPr id="134" name="Google Shape;116;p15"/>
          <p:cNvGrpSpPr/>
          <p:nvPr/>
        </p:nvGrpSpPr>
        <p:grpSpPr>
          <a:xfrm>
            <a:off x="9160916" y="2033331"/>
            <a:ext cx="2550874" cy="4680004"/>
            <a:chOff x="0" y="0"/>
            <a:chExt cx="2550872" cy="4680003"/>
          </a:xfrm>
        </p:grpSpPr>
        <p:sp>
          <p:nvSpPr>
            <p:cNvPr id="132" name="Rectangle"/>
            <p:cNvSpPr/>
            <p:nvPr/>
          </p:nvSpPr>
          <p:spPr>
            <a:xfrm>
              <a:off x="0" y="-1"/>
              <a:ext cx="2550873" cy="4680005"/>
            </a:xfrm>
            <a:prstGeom prst="rect">
              <a:avLst/>
            </a:prstGeom>
            <a:noFill/>
            <a:ln w="9525" cap="flat">
              <a:solidFill>
                <a:srgbClr val="F69492"/>
              </a:solidFill>
              <a:prstDash val="solid"/>
              <a:round/>
            </a:ln>
            <a:effectLst/>
          </p:spPr>
          <p:txBody>
            <a:bodyPr wrap="square" lIns="45719" tIns="45719" rIns="45719" bIns="45719" numCol="1" anchor="t">
              <a:noAutofit/>
            </a:bodyPr>
            <a:lstStyle/>
            <a:p>
              <a:pPr/>
            </a:p>
          </p:txBody>
        </p:sp>
        <p:sp>
          <p:nvSpPr>
            <p:cNvPr id="133" name="Need-Payoff…"/>
            <p:cNvSpPr txBox="1"/>
            <p:nvPr/>
          </p:nvSpPr>
          <p:spPr>
            <a:xfrm>
              <a:off x="50487" y="4762"/>
              <a:ext cx="2449899" cy="339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defRPr sz="1800">
                  <a:latin typeface="Lato Bold"/>
                  <a:ea typeface="Lato Bold"/>
                  <a:cs typeface="Lato Bold"/>
                  <a:sym typeface="Lato Bold"/>
                </a:defRPr>
              </a:pPr>
              <a:r>
                <a:t>Need-Payoff</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1.If we could double the conversion rate on your best-performing channel, what would that mean for revenue?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2.How valuable would it be to focus your team only on leads most likely to convert?</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3.If we could identify and fix the top 2 reasons for lost deals, how quickly could you hit your 35% target again?</a:t>
              </a:r>
            </a:p>
          </p:txBody>
        </p:sp>
      </p:gr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122;p16"/>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39" name="Rectangle"/>
          <p:cNvSpPr/>
          <p:nvPr/>
        </p:nvSpPr>
        <p:spPr>
          <a:xfrm>
            <a:off x="514663" y="2009521"/>
            <a:ext cx="11162676" cy="4493540"/>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40" name="Framework Used…"/>
          <p:cNvSpPr txBox="1"/>
          <p:nvPr/>
        </p:nvSpPr>
        <p:spPr>
          <a:xfrm>
            <a:off x="565151" y="2014284"/>
            <a:ext cx="11061700" cy="5374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Framework Used</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MECE Issue Tree (Hypothesis Tree)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sz="1800">
                <a:latin typeface="Lato Bold"/>
                <a:ea typeface="Lato Bold"/>
                <a:cs typeface="Lato Bold"/>
                <a:sym typeface="Lato Bold"/>
              </a:defRPr>
            </a:pPr>
            <a:r>
              <a:t>Reason for using the selected framework</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The MECE principle (Mutually Exclusive, Collectively Exhaustive) ensures that every possible cause of the conversion drop is covered without overlap. This framework is ideal for breaking down a business KPI problem into distinct branches so each root cause can be investigated independently.</a:t>
            </a:r>
          </a:p>
          <a:p>
            <a:pPr>
              <a:defRPr>
                <a:latin typeface="Lato Regular"/>
                <a:ea typeface="Lato Regular"/>
                <a:cs typeface="Lato Regular"/>
                <a:sym typeface="Lato Regular"/>
              </a:defRPr>
            </a:pPr>
          </a:p>
          <a:p>
            <a:pPr>
              <a:defRPr sz="1800">
                <a:latin typeface="Lato Bold"/>
                <a:ea typeface="Lato Bold"/>
                <a:cs typeface="Lato Bold"/>
                <a:sym typeface="Lato Bold"/>
              </a:defRPr>
            </a:pPr>
          </a:p>
          <a:p>
            <a:pPr>
              <a:defRPr sz="1800">
                <a:latin typeface="Lato Bold"/>
                <a:ea typeface="Lato Bold"/>
                <a:cs typeface="Lato Bold"/>
                <a:sym typeface="Lato Bold"/>
              </a:defRPr>
            </a:pPr>
          </a:p>
          <a:p>
            <a:pPr>
              <a:defRPr sz="1800">
                <a:latin typeface="Lato Bold"/>
                <a:ea typeface="Lato Bold"/>
                <a:cs typeface="Lato Bold"/>
                <a:sym typeface="Lato Bold"/>
              </a:defRPr>
            </a:pPr>
            <a:r>
              <a:t>How you have used the framework here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t>The central problem (conversion rate drop from 35% to 25%) is placed at the root. It is then broken into 5 branches that cover all dimensions of the business — Sales Channels, Product, Pricing, Client Relationships, and Competition. Each branch is then broken into specific hypotheses that can be tested with data.</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Google Shape;129;p17"/>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pic>
        <p:nvPicPr>
          <p:cNvPr id="145" name="Conversion_Rate_Drop_35__25 (2).png" descr="Conversion_Rate_Drop_35__25 (2).png"/>
          <p:cNvPicPr>
            <a:picLocks noChangeAspect="1"/>
          </p:cNvPicPr>
          <p:nvPr/>
        </p:nvPicPr>
        <p:blipFill>
          <a:blip r:embed="rId3">
            <a:extLst/>
          </a:blip>
          <a:stretch>
            <a:fillRect/>
          </a:stretch>
        </p:blipFill>
        <p:spPr>
          <a:xfrm>
            <a:off x="2850210" y="1750832"/>
            <a:ext cx="6491580" cy="5059112"/>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Google Shape;136;p18"/>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50" name="Rectangle"/>
          <p:cNvSpPr/>
          <p:nvPr/>
        </p:nvSpPr>
        <p:spPr>
          <a:xfrm>
            <a:off x="514663" y="2009464"/>
            <a:ext cx="11162677" cy="2159991"/>
          </a:xfrm>
          <a:prstGeom prst="rect">
            <a:avLst/>
          </a:prstGeom>
          <a:ln>
            <a:solidFill>
              <a:srgbClr val="BFBFBF"/>
            </a:solidFill>
          </a:ln>
        </p:spPr>
        <p:txBody>
          <a:bodyPr lIns="45719" rIns="45719"/>
          <a:lstStyle/>
          <a:p>
            <a:pPr>
              <a:defRPr sz="1800">
                <a:latin typeface="Lato Bold"/>
                <a:ea typeface="Lato Bold"/>
                <a:cs typeface="Lato Bold"/>
                <a:sym typeface="Lato Bold"/>
              </a:defRPr>
            </a:pPr>
          </a:p>
        </p:txBody>
      </p:sp>
      <p:sp>
        <p:nvSpPr>
          <p:cNvPr id="151" name="Branch 1: Sales Process &amp; Channels…"/>
          <p:cNvSpPr txBox="1"/>
          <p:nvPr/>
        </p:nvSpPr>
        <p:spPr>
          <a:xfrm>
            <a:off x="565151" y="2014227"/>
            <a:ext cx="11061701" cy="1945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Branch 1: Sales Process &amp; Channels</a:t>
            </a:r>
          </a:p>
          <a:p>
            <a:pPr>
              <a:defRPr sz="1800">
                <a:latin typeface="Lato Bold"/>
                <a:ea typeface="Lato Bold"/>
                <a:cs typeface="Lato Bold"/>
                <a:sym typeface="Lato Bold"/>
              </a:defRPr>
            </a:pPr>
          </a:p>
          <a:p>
            <a:pPr>
              <a:defRPr>
                <a:latin typeface="Lato Regular"/>
                <a:ea typeface="Lato Regular"/>
                <a:cs typeface="Lato Regular"/>
                <a:sym typeface="Lato Regular"/>
              </a:defRPr>
            </a:pPr>
          </a:p>
          <a:p>
            <a:pPr marL="140368" indent="-140368">
              <a:buSzPct val="100000"/>
              <a:buChar char="•"/>
              <a:defRPr>
                <a:latin typeface="Lato Regular"/>
                <a:ea typeface="Lato Regular"/>
                <a:cs typeface="Lato Regular"/>
                <a:sym typeface="Lato Regular"/>
              </a:defRPr>
            </a:pPr>
            <a:r>
              <a:t> Online Leads channel converts at very low rate, dragging overall conversion down</a:t>
            </a:r>
          </a:p>
          <a:p>
            <a:pPr marL="140368" indent="-140368">
              <a:buSzPct val="100000"/>
              <a:buChar char="•"/>
              <a:defRPr>
                <a:latin typeface="Lato Regular"/>
                <a:ea typeface="Lato Regular"/>
                <a:cs typeface="Lato Regular"/>
                <a:sym typeface="Lato Regular"/>
              </a:defRPr>
            </a:pPr>
            <a:r>
              <a:t> Enterprise Sellers perform best but may be under-resourced or understaffed</a:t>
            </a:r>
          </a:p>
          <a:p>
            <a:pPr marL="140368" indent="-140368">
              <a:buSzPct val="100000"/>
              <a:buChar char="•"/>
              <a:defRPr>
                <a:latin typeface="Lato Regular"/>
                <a:ea typeface="Lato Regular"/>
                <a:cs typeface="Lato Regular"/>
                <a:sym typeface="Lato Regular"/>
              </a:defRPr>
            </a:pPr>
            <a:r>
              <a:t> Marketing-generated leads are poor quality with low purchase intent</a:t>
            </a:r>
          </a:p>
          <a:p>
            <a:pPr marL="140368" indent="-140368">
              <a:buSzPct val="100000"/>
              <a:buChar char="•"/>
              <a:defRPr>
                <a:latin typeface="Lato Regular"/>
                <a:ea typeface="Lato Regular"/>
                <a:cs typeface="Lato Regular"/>
                <a:sym typeface="Lato Regular"/>
              </a:defRPr>
            </a:pPr>
            <a:r>
              <a:t> Tele Sales not being used for the right customer segments</a:t>
            </a:r>
          </a:p>
          <a:p>
            <a:pPr marL="140368" indent="-140368">
              <a:buSzPct val="100000"/>
              <a:buChar char="•"/>
              <a:defRPr>
                <a:latin typeface="Lato Regular"/>
                <a:ea typeface="Lato Regular"/>
                <a:cs typeface="Lato Regular"/>
                <a:sym typeface="Lato Regular"/>
              </a:defRPr>
            </a:pPr>
            <a:r>
              <a:t> Lead qualification criteria are too loose — wrong leads entering the pipeline</a:t>
            </a:r>
          </a:p>
        </p:txBody>
      </p:sp>
      <p:sp>
        <p:nvSpPr>
          <p:cNvPr id="152" name="Rectangle"/>
          <p:cNvSpPr/>
          <p:nvPr/>
        </p:nvSpPr>
        <p:spPr>
          <a:xfrm>
            <a:off x="514663" y="4443316"/>
            <a:ext cx="11162677" cy="2159991"/>
          </a:xfrm>
          <a:prstGeom prst="rect">
            <a:avLst/>
          </a:prstGeom>
          <a:ln>
            <a:solidFill>
              <a:srgbClr val="BFBFBF"/>
            </a:solidFill>
          </a:ln>
        </p:spPr>
        <p:txBody>
          <a:bodyPr lIns="45719" rIns="45719"/>
          <a:lstStyle/>
          <a:p>
            <a:pPr>
              <a:defRPr sz="1100">
                <a:latin typeface="Lato Regular"/>
                <a:ea typeface="Lato Regular"/>
                <a:cs typeface="Lato Regular"/>
                <a:sym typeface="Lato Regular"/>
              </a:defRPr>
            </a:pPr>
          </a:p>
        </p:txBody>
      </p:sp>
      <p:sp>
        <p:nvSpPr>
          <p:cNvPr id="153" name="Branch 2 : Product-Market Fit…"/>
          <p:cNvSpPr txBox="1"/>
          <p:nvPr/>
        </p:nvSpPr>
        <p:spPr>
          <a:xfrm>
            <a:off x="565151" y="4448079"/>
            <a:ext cx="11061701" cy="1945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Branch 2 : Product-Market Fit</a:t>
            </a:r>
          </a:p>
          <a:p>
            <a:pPr>
              <a:defRPr sz="1800">
                <a:latin typeface="Lato Bold"/>
                <a:ea typeface="Lato Bold"/>
                <a:cs typeface="Lato Bold"/>
                <a:sym typeface="Lato Bold"/>
              </a:defRPr>
            </a:pPr>
          </a:p>
          <a:p>
            <a:pPr>
              <a:defRPr>
                <a:latin typeface="Lato Regular"/>
                <a:ea typeface="Lato Regular"/>
                <a:cs typeface="Lato Regular"/>
                <a:sym typeface="Lato Regular"/>
              </a:defRPr>
            </a:pPr>
            <a:r>
              <a:t>Type your answer here</a:t>
            </a:r>
          </a:p>
          <a:p>
            <a:pPr marL="140368" indent="-140368">
              <a:buSzPct val="100000"/>
              <a:buChar char="•"/>
              <a:defRPr>
                <a:latin typeface="Lato Regular"/>
                <a:ea typeface="Lato Regular"/>
                <a:cs typeface="Lato Regular"/>
                <a:sym typeface="Lato Regular"/>
              </a:defRPr>
            </a:pPr>
            <a:r>
              <a:t> Legacy Modernization product has weak value proposition in current market</a:t>
            </a:r>
          </a:p>
          <a:p>
            <a:pPr marL="140368" indent="-140368">
              <a:buSzPct val="100000"/>
              <a:buChar char="•"/>
              <a:defRPr>
                <a:latin typeface="Lato Regular"/>
                <a:ea typeface="Lato Regular"/>
                <a:cs typeface="Lato Regular"/>
                <a:sym typeface="Lato Regular"/>
              </a:defRPr>
            </a:pPr>
            <a:r>
              <a:t> Analytics product has strong demand but is not being pushed enough</a:t>
            </a:r>
          </a:p>
          <a:p>
            <a:pPr marL="140368" indent="-140368">
              <a:buSzPct val="100000"/>
              <a:buChar char="•"/>
              <a:defRPr>
                <a:latin typeface="Lato Regular"/>
                <a:ea typeface="Lato Regular"/>
                <a:cs typeface="Lato Regular"/>
                <a:sym typeface="Lato Regular"/>
              </a:defRPr>
            </a:pPr>
            <a:r>
              <a:t> ERP Implementation faces differentiation issues vs competitors</a:t>
            </a:r>
          </a:p>
          <a:p>
            <a:pPr marL="140368" indent="-140368">
              <a:buSzPct val="100000"/>
              <a:buChar char="•"/>
              <a:defRPr>
                <a:latin typeface="Lato Regular"/>
                <a:ea typeface="Lato Regular"/>
                <a:cs typeface="Lato Regular"/>
                <a:sym typeface="Lato Regular"/>
              </a:defRPr>
            </a:pPr>
            <a:r>
              <a:t> Product features have not kept pace with evolving customer needs since FY18</a:t>
            </a:r>
          </a:p>
          <a:p>
            <a:pPr marL="140368" indent="-140368">
              <a:buSzPct val="100000"/>
              <a:buChar char="•"/>
              <a:defRPr>
                <a:latin typeface="Lato Regular"/>
                <a:ea typeface="Lato Regular"/>
                <a:cs typeface="Lato Regular"/>
                <a:sym typeface="Lato Regular"/>
              </a:defRPr>
            </a:pPr>
            <a:r>
              <a:t> Sales team lacks proper product knowledge to pitch effectively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Google Shape;145;p19"/>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58" name="Rectangle"/>
          <p:cNvSpPr/>
          <p:nvPr/>
        </p:nvSpPr>
        <p:spPr>
          <a:xfrm>
            <a:off x="514663" y="2009464"/>
            <a:ext cx="11162677" cy="2159991"/>
          </a:xfrm>
          <a:prstGeom prst="rect">
            <a:avLst/>
          </a:prstGeom>
          <a:ln>
            <a:solidFill>
              <a:srgbClr val="BFBFBF"/>
            </a:solidFill>
          </a:ln>
        </p:spPr>
        <p:txBody>
          <a:bodyPr lIns="45719" rIns="45719"/>
          <a:lstStyle/>
          <a:p>
            <a:pPr>
              <a:defRPr sz="1100">
                <a:latin typeface="Lato Regular"/>
                <a:ea typeface="Lato Regular"/>
                <a:cs typeface="Lato Regular"/>
                <a:sym typeface="Lato Regular"/>
              </a:defRPr>
            </a:pPr>
          </a:p>
        </p:txBody>
      </p:sp>
      <p:sp>
        <p:nvSpPr>
          <p:cNvPr id="159" name="Branch 3 : Pricing &amp; Deal Sizing…"/>
          <p:cNvSpPr txBox="1"/>
          <p:nvPr/>
        </p:nvSpPr>
        <p:spPr>
          <a:xfrm>
            <a:off x="565151" y="2014227"/>
            <a:ext cx="11061701" cy="145718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Branch 3 : Pricing &amp; Deal Sizing</a:t>
            </a:r>
          </a:p>
          <a:p>
            <a:pPr>
              <a:defRPr sz="1800">
                <a:latin typeface="Lato Bold"/>
                <a:ea typeface="Lato Bold"/>
                <a:cs typeface="Lato Bold"/>
                <a:sym typeface="Lato Bold"/>
              </a:defRPr>
            </a:pPr>
          </a:p>
          <a:p>
            <a:pPr marL="140368" indent="-140368">
              <a:buSzPct val="100000"/>
              <a:buChar char="•"/>
            </a:pPr>
            <a:r>
              <a:t>Mid-range and large deals (30K–50K) are hard to close and convert poorly</a:t>
            </a:r>
          </a:p>
          <a:p>
            <a:pPr marL="140368" indent="-140368">
              <a:buSzPct val="100000"/>
              <a:buChar char="•"/>
            </a:pPr>
            <a:r>
              <a:t>Smaller deals convert much better but are being ignored or deprioritised</a:t>
            </a:r>
          </a:p>
          <a:p>
            <a:pPr marL="140368" indent="-140368">
              <a:buSzPct val="100000"/>
              <a:buChar char="•"/>
            </a:pPr>
            <a:r>
              <a:t> Pricing is not competitive for the mid-market segment</a:t>
            </a:r>
          </a:p>
          <a:p>
            <a:pPr marL="140368" indent="-140368">
              <a:buSzPct val="100000"/>
              <a:buChar char="•"/>
            </a:pPr>
            <a:r>
              <a:t> No flexible pricing options or bundling — leads drop off at negotiation stage</a:t>
            </a:r>
          </a:p>
        </p:txBody>
      </p:sp>
      <p:sp>
        <p:nvSpPr>
          <p:cNvPr id="160" name="Rectangle"/>
          <p:cNvSpPr/>
          <p:nvPr/>
        </p:nvSpPr>
        <p:spPr>
          <a:xfrm>
            <a:off x="514663" y="4443316"/>
            <a:ext cx="11162677" cy="2159991"/>
          </a:xfrm>
          <a:prstGeom prst="rect">
            <a:avLst/>
          </a:prstGeom>
          <a:ln>
            <a:solidFill>
              <a:srgbClr val="BFBFBF"/>
            </a:solidFill>
          </a:ln>
        </p:spPr>
        <p:txBody>
          <a:bodyPr lIns="45719" rIns="45719"/>
          <a:lstStyle/>
          <a:p>
            <a:pPr>
              <a:defRPr sz="1100">
                <a:latin typeface="Lato Regular"/>
                <a:ea typeface="Lato Regular"/>
                <a:cs typeface="Lato Regular"/>
                <a:sym typeface="Lato Regular"/>
              </a:defRPr>
            </a:pPr>
          </a:p>
        </p:txBody>
      </p:sp>
      <p:sp>
        <p:nvSpPr>
          <p:cNvPr id="161" name="Branch 4 : Client Relationship &amp; Retention…"/>
          <p:cNvSpPr txBox="1"/>
          <p:nvPr/>
        </p:nvSpPr>
        <p:spPr>
          <a:xfrm>
            <a:off x="565151" y="4448079"/>
            <a:ext cx="11061701" cy="1513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Branch 4 : Client Relationship &amp; Retention</a:t>
            </a:r>
          </a:p>
          <a:p>
            <a:pPr>
              <a:defRPr sz="1800">
                <a:latin typeface="Lato Bold"/>
                <a:ea typeface="Lato Bold"/>
                <a:cs typeface="Lato Bold"/>
                <a:sym typeface="Lato Bold"/>
              </a:defRPr>
            </a:pPr>
          </a:p>
          <a:p>
            <a:pPr marL="140368" indent="-140368">
              <a:buSzPct val="100000"/>
              <a:buChar char="•"/>
              <a:defRPr>
                <a:latin typeface="Lato Regular"/>
                <a:ea typeface="Lato Regular"/>
                <a:cs typeface="Lato Regular"/>
                <a:sym typeface="Lato Regular"/>
              </a:defRPr>
            </a:pPr>
            <a:r>
              <a:t>Type More competitors have entered the market since FY18, increasing buyer options</a:t>
            </a:r>
          </a:p>
          <a:p>
            <a:pPr marL="140368" indent="-140368">
              <a:buSzPct val="100000"/>
              <a:buChar char="•"/>
              <a:defRPr>
                <a:latin typeface="Lato Regular"/>
                <a:ea typeface="Lato Regular"/>
                <a:cs typeface="Lato Regular"/>
                <a:sym typeface="Lato Regular"/>
              </a:defRPr>
            </a:pPr>
            <a:r>
              <a:t> When competitor is known, win rate drops — sales team lacks competitive intelligence</a:t>
            </a:r>
          </a:p>
          <a:p>
            <a:pPr marL="140368" indent="-140368">
              <a:buSzPct val="100000"/>
              <a:buChar char="•"/>
              <a:defRPr>
                <a:latin typeface="Lato Regular"/>
                <a:ea typeface="Lato Regular"/>
                <a:cs typeface="Lato Regular"/>
                <a:sym typeface="Lato Regular"/>
              </a:defRPr>
            </a:pPr>
            <a:r>
              <a:t> No formal win/loss analysis programme to learn from lost deals</a:t>
            </a:r>
          </a:p>
          <a:p>
            <a:pPr marL="140368" indent="-140368">
              <a:buSzPct val="100000"/>
              <a:buChar char="•"/>
              <a:defRPr>
                <a:latin typeface="Lato Regular"/>
                <a:ea typeface="Lato Regular"/>
                <a:cs typeface="Lato Regular"/>
                <a:sym typeface="Lato Regular"/>
              </a:defRPr>
            </a:pPr>
            <a:r>
              <a:t> Sales reps have no battle cards or objection-handling guides for competitor situations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Google Shape;154;p20"/>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66" name="Rectangle"/>
          <p:cNvSpPr/>
          <p:nvPr/>
        </p:nvSpPr>
        <p:spPr>
          <a:xfrm>
            <a:off x="514663" y="2009464"/>
            <a:ext cx="11162677" cy="2159991"/>
          </a:xfrm>
          <a:prstGeom prst="rect">
            <a:avLst/>
          </a:prstGeom>
          <a:ln>
            <a:solidFill>
              <a:srgbClr val="BFBFBF"/>
            </a:solidFill>
          </a:ln>
        </p:spPr>
        <p:txBody>
          <a:bodyPr lIns="45719" rIns="45719"/>
          <a:lstStyle/>
          <a:p>
            <a:pPr>
              <a:defRPr sz="1100">
                <a:latin typeface="Lato Regular"/>
                <a:ea typeface="Lato Regular"/>
                <a:cs typeface="Lato Regular"/>
                <a:sym typeface="Lato Regular"/>
              </a:defRPr>
            </a:pPr>
          </a:p>
        </p:txBody>
      </p:sp>
      <p:sp>
        <p:nvSpPr>
          <p:cNvPr id="167" name="Branch 5 : Competition &amp; Market Dynamics…"/>
          <p:cNvSpPr txBox="1"/>
          <p:nvPr/>
        </p:nvSpPr>
        <p:spPr>
          <a:xfrm>
            <a:off x="565151" y="2014227"/>
            <a:ext cx="11061701" cy="19075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Branch 5 : Competition &amp; Market Dynamics</a:t>
            </a:r>
          </a:p>
          <a:p>
            <a:pPr>
              <a:defRPr sz="1800">
                <a:latin typeface="Lato Bold"/>
                <a:ea typeface="Lato Bold"/>
                <a:cs typeface="Lato Bold"/>
                <a:sym typeface="Lato Bold"/>
              </a:defRPr>
            </a:pPr>
          </a:p>
          <a:p>
            <a:pPr marL="140368" indent="-140368">
              <a:buSzPct val="100000"/>
              <a:buChar char="•"/>
              <a:defRPr>
                <a:latin typeface="Lato Regular"/>
                <a:ea typeface="Lato Regular"/>
                <a:cs typeface="Lato Regular"/>
                <a:sym typeface="Lato Regular"/>
              </a:defRPr>
            </a:pPr>
            <a:r>
              <a:t>More competitors have entered the market since FY18, increasing buyer options</a:t>
            </a:r>
          </a:p>
          <a:p>
            <a:pPr marL="140368" indent="-140368">
              <a:buSzPct val="100000"/>
              <a:buChar char="•"/>
              <a:defRPr>
                <a:latin typeface="Lato Regular"/>
                <a:ea typeface="Lato Regular"/>
                <a:cs typeface="Lato Regular"/>
                <a:sym typeface="Lato Regular"/>
              </a:defRPr>
            </a:pPr>
            <a:r>
              <a:t> When competitor is known, win rate drops — sales team lacks competitive intelligence</a:t>
            </a:r>
          </a:p>
          <a:p>
            <a:pPr marL="140368" indent="-140368">
              <a:buSzPct val="100000"/>
              <a:buChar char="•"/>
              <a:defRPr>
                <a:latin typeface="Lato Regular"/>
                <a:ea typeface="Lato Regular"/>
                <a:cs typeface="Lato Regular"/>
                <a:sym typeface="Lato Regular"/>
              </a:defRPr>
            </a:pPr>
            <a:r>
              <a:t> No formal win/loss analysis programme to learn from lost deals</a:t>
            </a:r>
          </a:p>
          <a:p>
            <a:pPr marL="140368" indent="-140368">
              <a:buSzPct val="100000"/>
              <a:buChar char="•"/>
              <a:defRPr>
                <a:latin typeface="Lato Regular"/>
                <a:ea typeface="Lato Regular"/>
                <a:cs typeface="Lato Regular"/>
                <a:sym typeface="Lato Regular"/>
              </a:defRPr>
            </a:pPr>
            <a:r>
              <a:t> Competitor pricing may have dropped, making TechnoServe appear expensive</a:t>
            </a:r>
          </a:p>
          <a:p>
            <a:pPr defTabSz="457200">
              <a:defRPr sz="1200">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Google Shape;181;p23"/>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72" name="Rectangle"/>
          <p:cNvSpPr/>
          <p:nvPr/>
        </p:nvSpPr>
        <p:spPr>
          <a:xfrm>
            <a:off x="563498" y="1806832"/>
            <a:ext cx="2404555" cy="4462762"/>
          </a:xfrm>
          <a:prstGeom prst="rect">
            <a:avLst/>
          </a:prstGeom>
          <a:ln>
            <a:solidFill>
              <a:srgbClr val="F69492"/>
            </a:solidFill>
          </a:ln>
        </p:spPr>
        <p:txBody>
          <a:bodyPr lIns="45719" rIns="45719"/>
          <a:lstStyle/>
          <a:p>
            <a:pPr>
              <a:defRPr>
                <a:latin typeface="Lato Regular"/>
                <a:ea typeface="Lato Regular"/>
                <a:cs typeface="Lato Regular"/>
                <a:sym typeface="Lato Regular"/>
              </a:defRPr>
            </a:pPr>
          </a:p>
        </p:txBody>
      </p:sp>
      <p:sp>
        <p:nvSpPr>
          <p:cNvPr id="173" name="Variable…"/>
          <p:cNvSpPr txBox="1"/>
          <p:nvPr/>
        </p:nvSpPr>
        <p:spPr>
          <a:xfrm>
            <a:off x="563498" y="1811595"/>
            <a:ext cx="2303580" cy="527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a:t>
            </a:r>
          </a:p>
          <a:p>
            <a:pPr>
              <a:defRPr>
                <a:latin typeface="Lato Regular"/>
                <a:ea typeface="Lato Regular"/>
                <a:cs typeface="Lato Regular"/>
                <a:sym typeface="Lato Regular"/>
              </a:defRPr>
            </a:pPr>
          </a:p>
          <a:p>
            <a:pPr marL="140368" indent="-140368">
              <a:buSzPct val="100000"/>
              <a:buChar char="•"/>
            </a:pPr>
            <a:r>
              <a:t>Technology Primary</a:t>
            </a:r>
          </a:p>
          <a:p>
            <a:pPr marL="140368" indent="-140368">
              <a:buSzPct val="100000"/>
              <a:buChar char="•"/>
              <a:defRPr>
                <a:latin typeface="Lato Regular"/>
                <a:ea typeface="Lato Regular"/>
                <a:cs typeface="Lato Regular"/>
                <a:sym typeface="Lato Regular"/>
              </a:defRPr>
            </a:pPr>
          </a:p>
          <a:p>
            <a:pPr marL="140368" indent="-140368">
              <a:buSzPct val="100000"/>
              <a:buChar char="•"/>
              <a:defRPr>
                <a:latin typeface="Lato Regular"/>
                <a:ea typeface="Lato Regular"/>
                <a:cs typeface="Lato Regular"/>
                <a:sym typeface="Lato Regular"/>
              </a:defRPr>
            </a:pPr>
          </a:p>
          <a:p>
            <a:pPr marL="140368" indent="-140368">
              <a:buSzPct val="100000"/>
              <a:buChar char="•"/>
            </a:pPr>
            <a:r>
              <a:t>B2B Sales Medium</a:t>
            </a:r>
          </a:p>
          <a:p>
            <a:pPr marL="140368" indent="-140368">
              <a:buSzPct val="100000"/>
              <a:buChar char="•"/>
            </a:pPr>
          </a:p>
          <a:p>
            <a:pPr marL="140368" indent="-140368">
              <a:buSzPct val="100000"/>
              <a:buChar char="•"/>
            </a:pPr>
          </a:p>
          <a:p>
            <a:pPr marL="140368" indent="-140368">
              <a:buSzPct val="100000"/>
              <a:buChar char="•"/>
            </a:pPr>
            <a:r>
              <a:t>Client Revenue Sizing</a:t>
            </a: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r>
              <a:rPr>
                <a:latin typeface="Lato Regular"/>
                <a:ea typeface="Lato Regular"/>
                <a:cs typeface="Lato Regular"/>
                <a:sym typeface="Lato Regular"/>
              </a:rPr>
              <a:t>Opportunity Sizing</a:t>
            </a: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r>
              <a:rPr>
                <a:latin typeface="Lato Regular"/>
                <a:ea typeface="Lato Regular"/>
                <a:cs typeface="Lato Regular"/>
                <a:sym typeface="Lato Regular"/>
              </a:rPr>
              <a:t>Business from Client Last Year</a:t>
            </a: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r>
              <a:rPr>
                <a:latin typeface="Lato Regular"/>
                <a:ea typeface="Lato Regular"/>
                <a:cs typeface="Lato Regular"/>
                <a:sym typeface="Lato Regular"/>
              </a:rPr>
              <a:t>City</a:t>
            </a:r>
            <a:endParaRPr>
              <a:latin typeface="Lato Regular"/>
              <a:ea typeface="Lato Regular"/>
              <a:cs typeface="Lato Regular"/>
              <a:sym typeface="Lato Regular"/>
            </a:endParaRPr>
          </a:p>
          <a:p>
            <a:pPr marL="140368" indent="-140368">
              <a:buSzPct val="100000"/>
              <a:buChar char="•"/>
            </a:pPr>
            <a:endParaRPr>
              <a:latin typeface="Lato Regular"/>
              <a:ea typeface="Lato Regular"/>
              <a:cs typeface="Lato Regular"/>
              <a:sym typeface="Lato Regular"/>
            </a:endParaRPr>
          </a:p>
          <a:p>
            <a:pPr marL="140368" indent="-140368">
              <a:buSzPct val="100000"/>
              <a:buChar char="•"/>
            </a:pPr>
            <a:r>
              <a:rPr>
                <a:latin typeface="Lato Regular"/>
                <a:ea typeface="Lato Regular"/>
                <a:cs typeface="Lato Regular"/>
                <a:sym typeface="Lato Regular"/>
              </a:rPr>
              <a:t>Compete Intel</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Bold"/>
                <a:ea typeface="Lato Bold"/>
                <a:cs typeface="Lato Bold"/>
                <a:sym typeface="Lato Bold"/>
              </a:defRPr>
            </a:pPr>
          </a:p>
        </p:txBody>
      </p:sp>
      <p:sp>
        <p:nvSpPr>
          <p:cNvPr id="174" name="Rectangle"/>
          <p:cNvSpPr/>
          <p:nvPr/>
        </p:nvSpPr>
        <p:spPr>
          <a:xfrm>
            <a:off x="3261812" y="1806832"/>
            <a:ext cx="5542152" cy="4462762"/>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75" name="Insights if any…"/>
          <p:cNvSpPr txBox="1"/>
          <p:nvPr/>
        </p:nvSpPr>
        <p:spPr>
          <a:xfrm>
            <a:off x="3312299" y="1811595"/>
            <a:ext cx="5441177" cy="80924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Insights if any</a:t>
            </a:r>
          </a:p>
          <a:p>
            <a:pPr>
              <a:defRPr>
                <a:latin typeface="Lato Regular"/>
                <a:ea typeface="Lato Regular"/>
                <a:cs typeface="Lato Regular"/>
                <a:sym typeface="Lato Regular"/>
              </a:defRPr>
            </a:pPr>
          </a:p>
          <a:p>
            <a:pPr marL="140368" indent="-140368">
              <a:buSzPct val="100000"/>
              <a:buChar char="•"/>
            </a:pPr>
            <a:r>
              <a:t>Analytics converts best (26.3%) but has tiny pipeline volume. Legacy Modernization is worst at 12.2%</a:t>
            </a:r>
          </a:p>
          <a:p>
            <a:pPr marL="120315" indent="-120315" defTabSz="457200">
              <a:buSzPct val="100000"/>
              <a:buChar char="•"/>
              <a:defRPr sz="1200">
                <a:latin typeface="Times Roman"/>
                <a:ea typeface="Times Roman"/>
                <a:cs typeface="Times Roman"/>
                <a:sym typeface="Times Roman"/>
              </a:defRPr>
            </a:pPr>
          </a:p>
          <a:p>
            <a:pPr marL="140368" indent="-140368">
              <a:buSzPct val="100000"/>
              <a:buChar char="•"/>
            </a:pPr>
            <a:r>
              <a:t>Enterprise Sellers best at 27.6%. Online Leads worst at 6.5% - 4x gap</a:t>
            </a:r>
          </a:p>
          <a:p>
            <a:pPr marL="140368" indent="-140368">
              <a:buSzPct val="100000"/>
              <a:buChar char="•"/>
            </a:pPr>
          </a:p>
          <a:p>
            <a:pPr marL="140368" indent="-140368">
              <a:buSzPct val="100000"/>
              <a:buChar char="•"/>
            </a:pPr>
            <a:r>
              <a:t>Almost no variation across categories (19-23%).</a:t>
            </a:r>
          </a:p>
          <a:p>
            <a:pPr marL="140368" indent="-140368">
              <a:buSzPct val="100000"/>
              <a:buChar char="•"/>
            </a:pPr>
            <a:r>
              <a:t>Client size is not a predictor</a:t>
            </a:r>
          </a:p>
          <a:p>
            <a:pPr marL="140368" indent="-140368">
              <a:buSzPct val="100000"/>
              <a:buChar char="•"/>
            </a:pPr>
          </a:p>
          <a:p>
            <a:pPr marL="140368" indent="-140368">
              <a:buSzPct val="100000"/>
              <a:buChar char="•"/>
            </a:pPr>
            <a:r>
              <a:t>Clear inverse trend - smaller deals convert far better</a:t>
            </a:r>
          </a:p>
          <a:p>
            <a:pPr marL="140368" indent="-140368">
              <a:buSzPct val="100000"/>
              <a:buChar char="•"/>
            </a:pPr>
            <a:r>
              <a:t>40K-50K is largest volume but worst converter</a:t>
            </a:r>
          </a:p>
          <a:p>
            <a:pPr marL="140368" indent="-140368">
              <a:buSzPct val="100000"/>
              <a:buChar char="•"/>
            </a:pPr>
          </a:p>
          <a:p>
            <a:pPr marL="140368" indent="-140368">
              <a:buSzPct val="100000"/>
              <a:buChar char="•"/>
            </a:pPr>
            <a:r>
              <a:t>Strongest finding — prior clients convert at 47-83% vs 17.3% for new client</a:t>
            </a:r>
          </a:p>
          <a:p>
            <a:pPr marL="140368" indent="-140368">
              <a:buSzPct val="100000"/>
              <a:buChar char="•"/>
            </a:pPr>
          </a:p>
          <a:p>
            <a:pPr marL="140368" indent="-140368">
              <a:buSzPct val="100000"/>
              <a:buChar char="•"/>
            </a:pPr>
          </a:p>
          <a:p>
            <a:pPr marL="140368" indent="-140368">
              <a:buSzPct val="100000"/>
              <a:buChar char="•"/>
            </a:pPr>
            <a:r>
              <a:t>Mumbai best (25.4%), Pune worst (18.9%). Moderate variation</a:t>
            </a:r>
          </a:p>
          <a:p>
            <a:pPr marL="140368" indent="-140368">
              <a:buSzPct val="100000"/>
              <a:buChar char="•"/>
            </a:pPr>
          </a:p>
          <a:p>
            <a:pPr marL="140368" indent="-140368">
              <a:buSzPct val="100000"/>
              <a:buChar char="•"/>
            </a:pPr>
            <a:r>
              <a:t>Known competitor situations reduce win rate to 19.5%</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sp>
        <p:nvSpPr>
          <p:cNvPr id="176" name="Rectangle"/>
          <p:cNvSpPr/>
          <p:nvPr/>
        </p:nvSpPr>
        <p:spPr>
          <a:xfrm>
            <a:off x="9148209" y="1806832"/>
            <a:ext cx="2794417" cy="4462762"/>
          </a:xfrm>
          <a:prstGeom prst="rect">
            <a:avLst/>
          </a:prstGeom>
          <a:ln>
            <a:solidFill>
              <a:srgbClr val="F69492"/>
            </a:solidFill>
          </a:ln>
        </p:spPr>
        <p:txBody>
          <a:bodyPr lIns="45719" rIns="45719"/>
          <a:lstStyle/>
          <a:p>
            <a:pPr>
              <a:defRPr>
                <a:latin typeface="Lato Regular"/>
                <a:ea typeface="Lato Regular"/>
                <a:cs typeface="Lato Regular"/>
                <a:sym typeface="Lato Regular"/>
              </a:defRPr>
            </a:pPr>
          </a:p>
        </p:txBody>
      </p:sp>
      <p:sp>
        <p:nvSpPr>
          <p:cNvPr id="177" name="Pattern of Insight…"/>
          <p:cNvSpPr txBox="1"/>
          <p:nvPr/>
        </p:nvSpPr>
        <p:spPr>
          <a:xfrm>
            <a:off x="9198697" y="1811595"/>
            <a:ext cx="2693442" cy="8168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Pattern of Insight</a:t>
            </a:r>
          </a:p>
          <a:p>
            <a:pPr>
              <a:defRPr>
                <a:latin typeface="Lato Regular"/>
                <a:ea typeface="Lato Regular"/>
                <a:cs typeface="Lato Regular"/>
                <a:sym typeface="Lato Regular"/>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Exception /</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Outlier</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Magnitude /</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Outlier</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No Pattern</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Inverse Trend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Strongest</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Trend</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Magnitude</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mn-lt"/>
                <a:ea typeface="+mn-ea"/>
                <a:cs typeface="+mn-cs"/>
                <a:sym typeface="Helvetica"/>
              </a:defRPr>
            </a:pPr>
            <a:r>
              <a:t>Outlier</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Google Shape;190;p24"/>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82" name="Rectangle"/>
          <p:cNvSpPr/>
          <p:nvPr/>
        </p:nvSpPr>
        <p:spPr>
          <a:xfrm>
            <a:off x="409731" y="1783894"/>
            <a:ext cx="11162676" cy="4893648"/>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83" name="Variable under  consideration: Technology Primary…"/>
          <p:cNvSpPr txBox="1"/>
          <p:nvPr/>
        </p:nvSpPr>
        <p:spPr>
          <a:xfrm>
            <a:off x="460219" y="1788656"/>
            <a:ext cx="11061700" cy="512185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under  consideration: Technology Primary</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Analytics → 26.3%</a:t>
            </a:r>
            <a:endParaRPr>
              <a:latin typeface="Lato Regular"/>
              <a:ea typeface="Lato Regular"/>
              <a:cs typeface="Lato Regular"/>
              <a:sym typeface="Lato Regular"/>
            </a:endParaRPr>
          </a:p>
          <a:p>
            <a:pPr defTabSz="457200">
              <a:defRPr sz="1200">
                <a:latin typeface="Times Roman"/>
                <a:ea typeface="Times Roman"/>
                <a:cs typeface="Times Roman"/>
                <a:sym typeface="Times Roman"/>
              </a:defRPr>
            </a:pPr>
            <a:r>
              <a:rPr>
                <a:latin typeface="Lato Regular"/>
                <a:ea typeface="Lato Regular"/>
                <a:cs typeface="Lato Regular"/>
                <a:sym typeface="Lato Regular"/>
              </a:rPr>
              <a:t>ERP Implementation → 23.3%</a:t>
            </a:r>
            <a:endParaRPr>
              <a:latin typeface="Lato Regular"/>
              <a:ea typeface="Lato Regular"/>
              <a:cs typeface="Lato Regular"/>
              <a:sym typeface="Lato Regular"/>
            </a:endParaRPr>
          </a:p>
          <a:p>
            <a:pPr defTabSz="457200">
              <a:defRPr sz="1200">
                <a:latin typeface="Times Roman"/>
                <a:ea typeface="Times Roman"/>
                <a:cs typeface="Times Roman"/>
                <a:sym typeface="Times Roman"/>
              </a:defRPr>
            </a:pPr>
            <a:r>
              <a:rPr>
                <a:latin typeface="Lato Regular"/>
                <a:ea typeface="Lato Regular"/>
                <a:cs typeface="Lato Regular"/>
                <a:sym typeface="Lato Regular"/>
              </a:rPr>
              <a:t>Technical Business Solutions → 21.4%</a:t>
            </a:r>
            <a:endParaRPr>
              <a:latin typeface="Lato Regular"/>
              <a:ea typeface="Lato Regular"/>
              <a:cs typeface="Lato Regular"/>
              <a:sym typeface="Lato Regular"/>
            </a:endParaRPr>
          </a:p>
          <a:p>
            <a:pPr defTabSz="457200">
              <a:defRPr sz="1200">
                <a:latin typeface="Times Roman"/>
                <a:ea typeface="Times Roman"/>
                <a:cs typeface="Times Roman"/>
                <a:sym typeface="Times Roman"/>
              </a:defRPr>
            </a:pPr>
            <a:r>
              <a:rPr>
                <a:latin typeface="Lato Regular"/>
                <a:ea typeface="Lato Regular"/>
                <a:cs typeface="Lato Regular"/>
                <a:sym typeface="Lato Regular"/>
              </a:rPr>
              <a:t>Legacy Modernization → 12.2%</a:t>
            </a:r>
            <a:endParaRPr>
              <a:latin typeface="Lato Regular"/>
              <a:ea typeface="Lato Regular"/>
              <a:cs typeface="Lato Regular"/>
              <a:sym typeface="Lato Regular"/>
            </a:endParaRPr>
          </a:p>
          <a:p>
            <a:pPr defTabSz="457200">
              <a:defRPr sz="1200">
                <a:latin typeface="Times Roman"/>
                <a:ea typeface="Times Roman"/>
                <a:cs typeface="Times Roman"/>
                <a:sym typeface="Times Roman"/>
              </a:defRPr>
            </a:pPr>
            <a:endParaRPr>
              <a:latin typeface="Lato Regular"/>
              <a:ea typeface="Lato Regular"/>
              <a:cs typeface="Lato Regular"/>
              <a:sym typeface="Lato Regular"/>
            </a:endParaR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b="1"/>
              <a:t>Pattern:</a:t>
            </a:r>
            <a:r>
              <a:t> Exception / Outlier</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Analytics has the highest conversion rate at 26.3% but makes up less than 1% of the total pipeline. Legacy Modernization is the worst performer at 12.2% and should be reviewed. ERP Implementation dominates volume at 64% of all leads — improving its conversion even slightly would have the biggest overall impact.</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pic>
        <p:nvPicPr>
          <p:cNvPr id="184" name="Screenshot 2026-05-31 at 8.49.44 PM.png" descr="Screenshot 2026-05-31 at 8.49.44 PM.png"/>
          <p:cNvPicPr>
            <a:picLocks noChangeAspect="1"/>
          </p:cNvPicPr>
          <p:nvPr/>
        </p:nvPicPr>
        <p:blipFill>
          <a:blip r:embed="rId3">
            <a:extLst/>
          </a:blip>
          <a:stretch>
            <a:fillRect/>
          </a:stretch>
        </p:blipFill>
        <p:spPr>
          <a:xfrm>
            <a:off x="4202192" y="3060473"/>
            <a:ext cx="3577755" cy="212731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Google Shape;197;p25"/>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89" name="Rectangle"/>
          <p:cNvSpPr/>
          <p:nvPr/>
        </p:nvSpPr>
        <p:spPr>
          <a:xfrm>
            <a:off x="426129" y="1742898"/>
            <a:ext cx="11162676" cy="4893648"/>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90" name="Variable under  consideration:…"/>
          <p:cNvSpPr txBox="1"/>
          <p:nvPr/>
        </p:nvSpPr>
        <p:spPr>
          <a:xfrm>
            <a:off x="476617" y="1747661"/>
            <a:ext cx="11061700" cy="5069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under  consideration: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rPr>
                <a:latin typeface="Lato Bold"/>
                <a:ea typeface="Lato Bold"/>
                <a:cs typeface="Lato Bold"/>
                <a:sym typeface="Lato Bold"/>
              </a:rPr>
              <a:t>Pattern:</a:t>
            </a:r>
            <a:r>
              <a:t> Magnitude / Outlier</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Enterprise Sellers convert at 27.6% — the best performing channel. Online Leads are a critical problem at only 6.5% conversion — nearly 4 times worse. Immediate action is needed to either fix or defund the Online Leads channel and redirect that investment toward Enterprise Sellers.</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pic>
        <p:nvPicPr>
          <p:cNvPr id="191" name="Screenshot 2026-05-31 at 8.51.33 PM.png" descr="Screenshot 2026-05-31 at 8.51.33 PM.png"/>
          <p:cNvPicPr>
            <a:picLocks noChangeAspect="1"/>
          </p:cNvPicPr>
          <p:nvPr/>
        </p:nvPicPr>
        <p:blipFill>
          <a:blip r:embed="rId3">
            <a:extLst/>
          </a:blip>
          <a:stretch>
            <a:fillRect/>
          </a:stretch>
        </p:blipFill>
        <p:spPr>
          <a:xfrm>
            <a:off x="4340550" y="2529843"/>
            <a:ext cx="3510900" cy="2119651"/>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Google Shape;204;p26"/>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196" name="Rectangle"/>
          <p:cNvSpPr/>
          <p:nvPr/>
        </p:nvSpPr>
        <p:spPr>
          <a:xfrm>
            <a:off x="409731" y="1783894"/>
            <a:ext cx="11162676" cy="4893648"/>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197" name="Variable under  consideration:…"/>
          <p:cNvSpPr txBox="1"/>
          <p:nvPr/>
        </p:nvSpPr>
        <p:spPr>
          <a:xfrm>
            <a:off x="460219" y="1788656"/>
            <a:ext cx="11061700" cy="5260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under  consideration: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rPr>
                <a:latin typeface="Lato Bold"/>
                <a:ea typeface="Lato Bold"/>
                <a:cs typeface="Lato Bold"/>
                <a:sym typeface="Lato Bold"/>
              </a:rPr>
              <a:t>Pattern:</a:t>
            </a:r>
            <a:r>
              <a:t> Inverse Trend</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There is a clear inverse relationship between deal size and conversion rate. Deals of 10K or less convert at 39.9% while the 40K–50K range converts at only 11.7%. Most alarmingly the 40K–50K bucket is the largest volume segment in the pipeline yet has the worst conversion rate. TechnoServe is spending the most effort on the deals least likely to close.</a:t>
            </a:r>
            <a:endParaRPr>
              <a:latin typeface="Lato Regular"/>
              <a:ea typeface="Lato Regular"/>
              <a:cs typeface="Lato Regular"/>
              <a:sym typeface="Lato Regular"/>
            </a:endParaRPr>
          </a:p>
          <a:p>
            <a:pPr>
              <a:defRPr>
                <a:latin typeface="Lato Regular"/>
                <a:ea typeface="Lato Regular"/>
                <a:cs typeface="Lato Regular"/>
                <a:sym typeface="Lato Regular"/>
              </a:defRPr>
            </a:pPr>
          </a:p>
          <a:p>
            <a:pPr>
              <a:defRPr>
                <a:latin typeface="Lato Regular"/>
                <a:ea typeface="Lato Regular"/>
                <a:cs typeface="Lato Regular"/>
                <a:sym typeface="Lato Regular"/>
              </a:defRPr>
            </a:pPr>
          </a:p>
        </p:txBody>
      </p:sp>
      <p:pic>
        <p:nvPicPr>
          <p:cNvPr id="198" name="Screenshot 2026-05-31 at 8.53.58 PM.png" descr="Screenshot 2026-05-31 at 8.53.58 PM.png"/>
          <p:cNvPicPr>
            <a:picLocks noChangeAspect="1"/>
          </p:cNvPicPr>
          <p:nvPr/>
        </p:nvPicPr>
        <p:blipFill>
          <a:blip r:embed="rId3">
            <a:extLst/>
          </a:blip>
          <a:stretch>
            <a:fillRect/>
          </a:stretch>
        </p:blipFill>
        <p:spPr>
          <a:xfrm>
            <a:off x="4074903" y="2268169"/>
            <a:ext cx="3832332" cy="2321662"/>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Google Shape;211;p27"/>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03" name="Rectangle"/>
          <p:cNvSpPr/>
          <p:nvPr/>
        </p:nvSpPr>
        <p:spPr>
          <a:xfrm>
            <a:off x="409731" y="1783894"/>
            <a:ext cx="11162676" cy="4893648"/>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204" name="Variable under  consideration:…"/>
          <p:cNvSpPr txBox="1"/>
          <p:nvPr/>
        </p:nvSpPr>
        <p:spPr>
          <a:xfrm>
            <a:off x="460219" y="1814056"/>
            <a:ext cx="11061700" cy="5069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under  consideration: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rPr>
                <a:latin typeface="Lato Bold"/>
                <a:ea typeface="Lato Bold"/>
                <a:cs typeface="Lato Bold"/>
                <a:sym typeface="Lato Bold"/>
              </a:rPr>
              <a:t>Pattern:</a:t>
            </a:r>
            <a:r>
              <a:t> Strongest Trend / Magnitude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This is the strongest finding in the entire dataset. Clients with any prior business convert at 47–83% compared to only 17.3% for new clients. The problem is that 88% of the pipeline consists of brand new clients — the worst converting group. TechnoServe is largely ignoring its most valuable asset which is existing client relationships.</a:t>
            </a:r>
            <a:endParaRPr>
              <a:latin typeface="Lato Regular"/>
              <a:ea typeface="Lato Regular"/>
              <a:cs typeface="Lato Regular"/>
              <a:sym typeface="Lato Regular"/>
            </a:endParaRPr>
          </a:p>
          <a:p>
            <a:pPr>
              <a:defRPr>
                <a:latin typeface="Lato Regular"/>
                <a:ea typeface="Lato Regular"/>
                <a:cs typeface="Lato Regular"/>
                <a:sym typeface="Lato Regular"/>
              </a:defRPr>
            </a:pPr>
          </a:p>
        </p:txBody>
      </p:sp>
      <p:pic>
        <p:nvPicPr>
          <p:cNvPr id="205" name="Screenshot 2026-05-31 at 8.56.06 PM.png" descr="Screenshot 2026-05-31 at 8.56.06 PM.png"/>
          <p:cNvPicPr>
            <a:picLocks noChangeAspect="1"/>
          </p:cNvPicPr>
          <p:nvPr/>
        </p:nvPicPr>
        <p:blipFill>
          <a:blip r:embed="rId3">
            <a:extLst/>
          </a:blip>
          <a:stretch>
            <a:fillRect/>
          </a:stretch>
        </p:blipFill>
        <p:spPr>
          <a:xfrm>
            <a:off x="3609898" y="2912630"/>
            <a:ext cx="4390595" cy="2636175"/>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Google Shape;218;p28"/>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10" name="Rectangle"/>
          <p:cNvSpPr/>
          <p:nvPr/>
        </p:nvSpPr>
        <p:spPr>
          <a:xfrm>
            <a:off x="409731" y="1783894"/>
            <a:ext cx="11162676" cy="4893648"/>
          </a:xfrm>
          <a:prstGeom prst="rect">
            <a:avLst/>
          </a:prstGeom>
          <a:ln>
            <a:solidFill>
              <a:srgbClr val="BFBFBF"/>
            </a:solidFill>
          </a:ln>
        </p:spPr>
        <p:txBody>
          <a:bodyPr lIns="45719" rIns="45719"/>
          <a:lstStyle/>
          <a:p>
            <a:pPr>
              <a:defRPr>
                <a:latin typeface="Lato Regular"/>
                <a:ea typeface="Lato Regular"/>
                <a:cs typeface="Lato Regular"/>
                <a:sym typeface="Lato Regular"/>
              </a:defRPr>
            </a:pPr>
          </a:p>
        </p:txBody>
      </p:sp>
      <p:sp>
        <p:nvSpPr>
          <p:cNvPr id="211" name="Variable under  consideration:…"/>
          <p:cNvSpPr txBox="1"/>
          <p:nvPr/>
        </p:nvSpPr>
        <p:spPr>
          <a:xfrm>
            <a:off x="460219" y="1788656"/>
            <a:ext cx="11061700" cy="52603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Variable under  consideration: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r>
              <a:rPr>
                <a:latin typeface="Lato Bold"/>
                <a:ea typeface="Lato Bold"/>
                <a:cs typeface="Lato Bold"/>
                <a:sym typeface="Lato Bold"/>
              </a:rPr>
              <a:t>Pattern:</a:t>
            </a:r>
            <a:r>
              <a:t> No Significant Pattern</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defTabSz="457200">
              <a:defRPr sz="1200">
                <a:latin typeface="Times Roman"/>
                <a:ea typeface="Times Roman"/>
                <a:cs typeface="Times Roman"/>
                <a:sym typeface="Times Roman"/>
              </a:defRPr>
            </a:pPr>
            <a:r>
              <a:rPr>
                <a:latin typeface="Lato Regular"/>
                <a:ea typeface="Lato Regular"/>
                <a:cs typeface="Lato Regular"/>
                <a:sym typeface="Lato Regular"/>
              </a:rPr>
              <a:t>Conversion rates are almost identical across all client revenue categories ranging from 19.3% to 22.9%. Client revenue size has no meaningful impact on whether a lead converts. TechnoServe should not waste time segmenting leads by client size and should instead focus on variables that actually matter like prior relationship and deal size.</a:t>
            </a:r>
            <a:endParaRPr>
              <a:latin typeface="Lato Regular"/>
              <a:ea typeface="Lato Regular"/>
              <a:cs typeface="Lato Regular"/>
              <a:sym typeface="Lato Regular"/>
            </a:endParaRPr>
          </a:p>
          <a:p>
            <a:pPr>
              <a:defRPr>
                <a:latin typeface="Lato Regular"/>
                <a:ea typeface="Lato Regular"/>
                <a:cs typeface="Lato Regular"/>
                <a:sym typeface="Lato Regular"/>
              </a:defRPr>
            </a:pPr>
          </a:p>
        </p:txBody>
      </p:sp>
      <p:pic>
        <p:nvPicPr>
          <p:cNvPr id="212" name="Screenshot 2026-05-31 at 8.57.18 PM.png" descr="Screenshot 2026-05-31 at 8.57.18 PM.png"/>
          <p:cNvPicPr>
            <a:picLocks noChangeAspect="1"/>
          </p:cNvPicPr>
          <p:nvPr/>
        </p:nvPicPr>
        <p:blipFill>
          <a:blip r:embed="rId3">
            <a:extLst/>
          </a:blip>
          <a:stretch>
            <a:fillRect/>
          </a:stretch>
        </p:blipFill>
        <p:spPr>
          <a:xfrm>
            <a:off x="4211851" y="3154216"/>
            <a:ext cx="3558436" cy="2153003"/>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Google Shape;225;p29"/>
          <p:cNvSpPr txBox="1"/>
          <p:nvPr>
            <p:ph type="title"/>
          </p:nvPr>
        </p:nvSpPr>
        <p:spPr>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17" name="Rectangle"/>
          <p:cNvSpPr/>
          <p:nvPr/>
        </p:nvSpPr>
        <p:spPr>
          <a:xfrm>
            <a:off x="317187" y="1798904"/>
            <a:ext cx="4037838" cy="4555094"/>
          </a:xfrm>
          <a:prstGeom prst="rect">
            <a:avLst/>
          </a:prstGeom>
          <a:ln>
            <a:solidFill>
              <a:srgbClr val="F69492"/>
            </a:solidFill>
          </a:ln>
        </p:spPr>
        <p:txBody>
          <a:bodyPr lIns="45719" rIns="45719"/>
          <a:lstStyle/>
          <a:p>
            <a:pPr>
              <a:defRPr sz="1000">
                <a:latin typeface="Lato Bold"/>
                <a:ea typeface="Lato Bold"/>
                <a:cs typeface="Lato Bold"/>
                <a:sym typeface="Lato Bold"/>
              </a:defRPr>
            </a:pPr>
          </a:p>
        </p:txBody>
      </p:sp>
      <p:sp>
        <p:nvSpPr>
          <p:cNvPr id="218" name="Recommendations…"/>
          <p:cNvSpPr txBox="1"/>
          <p:nvPr/>
        </p:nvSpPr>
        <p:spPr>
          <a:xfrm>
            <a:off x="367675" y="1803667"/>
            <a:ext cx="3936862" cy="8168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Recommendations</a:t>
            </a:r>
          </a:p>
          <a:p>
            <a:pPr defTabSz="457200">
              <a:spcBef>
                <a:spcPts val="1200"/>
              </a:spcBef>
              <a:defRPr sz="1200">
                <a:latin typeface="Times Roman"/>
                <a:ea typeface="Times Roman"/>
                <a:cs typeface="Times Roman"/>
                <a:sym typeface="Times Roman"/>
              </a:defRPr>
            </a:pPr>
            <a:r>
              <a:rPr b="1"/>
              <a:t>R1: Invest in upselling existing clients</a:t>
            </a:r>
            <a:r>
              <a:t> Launch a structured programme to upsell and cross-sell to existing clients. Set a target to move more leads into the "prior business" category.</a:t>
            </a:r>
          </a:p>
          <a:p>
            <a:pPr defTabSz="457200">
              <a:spcBef>
                <a:spcPts val="1200"/>
              </a:spcBef>
              <a:defRPr sz="1200">
                <a:latin typeface="Times Roman"/>
                <a:ea typeface="Times Roman"/>
                <a:cs typeface="Times Roman"/>
                <a:sym typeface="Times Roman"/>
              </a:defRPr>
            </a:pPr>
            <a:r>
              <a:rPr b="1"/>
              <a:t>R2: Shift pipeline focus toward smaller deals</a:t>
            </a:r>
            <a:r>
              <a:t> Redesign sales targets to prioritise deals of 20K or less which convert far better. Reduce time spent on 40K–50K deals.</a:t>
            </a:r>
          </a:p>
          <a:p>
            <a:pPr defTabSz="457200">
              <a:spcBef>
                <a:spcPts val="1200"/>
              </a:spcBef>
              <a:defRPr sz="1200">
                <a:latin typeface="Times Roman"/>
                <a:ea typeface="Times Roman"/>
                <a:cs typeface="Times Roman"/>
                <a:sym typeface="Times Roman"/>
              </a:defRPr>
            </a:pPr>
            <a:r>
              <a:rPr b="1"/>
              <a:t>R3: Fix or eliminate the Online Leads channel</a:t>
            </a:r>
            <a:r>
              <a:t> Online Leads convert at only 6.5%. Immediately audit this channel and reallocate budget to Enterprise Sellers who convert at 27.6%.</a:t>
            </a:r>
          </a:p>
          <a:p>
            <a:pPr defTabSz="457200">
              <a:spcBef>
                <a:spcPts val="1200"/>
              </a:spcBef>
              <a:defRPr sz="1200">
                <a:latin typeface="Times Roman"/>
                <a:ea typeface="Times Roman"/>
                <a:cs typeface="Times Roman"/>
                <a:sym typeface="Times Roman"/>
              </a:defRPr>
            </a:pPr>
            <a:r>
              <a:rPr b="1"/>
              <a:t>R4: Scale up Analytics pipeline</a:t>
            </a:r>
            <a:r>
              <a:t> Analytics converts at 26.3% but has less than 1% of pipeline volume. Actively push more Analytics leads through marketing and sales.</a:t>
            </a:r>
          </a:p>
          <a:p>
            <a:pPr defTabSz="457200">
              <a:spcBef>
                <a:spcPts val="1200"/>
              </a:spcBef>
              <a:defRPr sz="1200">
                <a:latin typeface="Times Roman"/>
                <a:ea typeface="Times Roman"/>
                <a:cs typeface="Times Roman"/>
                <a:sym typeface="Times Roman"/>
              </a:defRPr>
            </a:pPr>
            <a:r>
              <a:rPr b="1"/>
              <a:t>R5: Review Legacy Modernization strategy</a:t>
            </a:r>
            <a:r>
              <a:t> At 12.2% conversion this product is underperforming. Either revamp the value proposition or redirect those sales resources elsewhere.</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sz="1000">
                <a:latin typeface="Lato Bold"/>
                <a:ea typeface="Lato Bold"/>
                <a:cs typeface="Lato Bold"/>
                <a:sym typeface="Lato Bold"/>
              </a:defRPr>
            </a:pPr>
          </a:p>
        </p:txBody>
      </p:sp>
      <p:sp>
        <p:nvSpPr>
          <p:cNvPr id="219" name="Rectangle"/>
          <p:cNvSpPr/>
          <p:nvPr/>
        </p:nvSpPr>
        <p:spPr>
          <a:xfrm>
            <a:off x="4494507" y="1800542"/>
            <a:ext cx="7206713" cy="4555093"/>
          </a:xfrm>
          <a:prstGeom prst="rect">
            <a:avLst/>
          </a:prstGeom>
          <a:ln>
            <a:solidFill>
              <a:srgbClr val="BFBFBF"/>
            </a:solidFill>
          </a:ln>
        </p:spPr>
        <p:txBody>
          <a:bodyPr lIns="45719" rIns="45719"/>
          <a:lstStyle/>
          <a:p>
            <a:pPr>
              <a:defRPr sz="1600">
                <a:latin typeface="Lato Regular"/>
                <a:ea typeface="Lato Regular"/>
                <a:cs typeface="Lato Regular"/>
                <a:sym typeface="Lato Regular"/>
              </a:defRPr>
            </a:pPr>
          </a:p>
        </p:txBody>
      </p:sp>
      <p:sp>
        <p:nvSpPr>
          <p:cNvPr id="220" name="Corresponding Insights…"/>
          <p:cNvSpPr txBox="1"/>
          <p:nvPr/>
        </p:nvSpPr>
        <p:spPr>
          <a:xfrm>
            <a:off x="4544995" y="1805304"/>
            <a:ext cx="7105738" cy="7533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Lato Bold"/>
                <a:ea typeface="Lato Bold"/>
                <a:cs typeface="Lato Bold"/>
                <a:sym typeface="Lato Bold"/>
              </a:defRPr>
            </a:pPr>
            <a:r>
              <a:t>Corresponding Insights</a:t>
            </a:r>
          </a:p>
          <a:p>
            <a:pPr defTabSz="457200">
              <a:lnSpc>
                <a:spcPct val="200000"/>
              </a:lnSpc>
              <a:defRPr sz="1200">
                <a:latin typeface="Times Roman"/>
                <a:ea typeface="Times Roman"/>
                <a:cs typeface="Times Roman"/>
                <a:sym typeface="Times Roman"/>
              </a:defRPr>
            </a:pPr>
            <a:r>
              <a:rPr b="1"/>
              <a:t>R1</a:t>
            </a:r>
            <a:r>
              <a:t> is based on the finding that prior clients convert at 47–83% vs 17.3% for new clients. </a:t>
            </a:r>
          </a:p>
          <a:p>
            <a:pPr defTabSz="457200">
              <a:lnSpc>
                <a:spcPct val="200000"/>
              </a:lnSpc>
              <a:defRPr sz="1200">
                <a:latin typeface="Times Roman"/>
                <a:ea typeface="Times Roman"/>
                <a:cs typeface="Times Roman"/>
                <a:sym typeface="Times Roman"/>
              </a:defRPr>
            </a:pPr>
          </a:p>
          <a:p>
            <a:pPr defTabSz="457200">
              <a:lnSpc>
                <a:spcPct val="200000"/>
              </a:lnSpc>
              <a:defRPr sz="1200">
                <a:latin typeface="Times Roman"/>
                <a:ea typeface="Times Roman"/>
                <a:cs typeface="Times Roman"/>
                <a:sym typeface="Times Roman"/>
              </a:defRPr>
            </a:pPr>
            <a:r>
              <a:rPr b="1"/>
              <a:t>R2</a:t>
            </a:r>
            <a:r>
              <a:t> is based on the inverse trend showing smaller deals convert far better. </a:t>
            </a:r>
          </a:p>
          <a:p>
            <a:pPr defTabSz="457200">
              <a:lnSpc>
                <a:spcPct val="200000"/>
              </a:lnSpc>
              <a:defRPr sz="1200">
                <a:latin typeface="Times Roman"/>
                <a:ea typeface="Times Roman"/>
                <a:cs typeface="Times Roman"/>
                <a:sym typeface="Times Roman"/>
              </a:defRPr>
            </a:pPr>
          </a:p>
          <a:p>
            <a:pPr defTabSz="457200">
              <a:lnSpc>
                <a:spcPct val="200000"/>
              </a:lnSpc>
              <a:defRPr sz="1200">
                <a:latin typeface="Times Roman"/>
                <a:ea typeface="Times Roman"/>
                <a:cs typeface="Times Roman"/>
                <a:sym typeface="Times Roman"/>
              </a:defRPr>
            </a:pPr>
            <a:r>
              <a:rPr b="1"/>
              <a:t>R3 </a:t>
            </a:r>
            <a:r>
              <a:t>is based on Online Leads converting 4x worse than Enterprise Sellers. </a:t>
            </a:r>
          </a:p>
          <a:p>
            <a:pPr defTabSz="457200">
              <a:lnSpc>
                <a:spcPct val="200000"/>
              </a:lnSpc>
              <a:defRPr sz="1200">
                <a:latin typeface="Times Roman"/>
                <a:ea typeface="Times Roman"/>
                <a:cs typeface="Times Roman"/>
                <a:sym typeface="Times Roman"/>
              </a:defRPr>
            </a:pPr>
          </a:p>
          <a:p>
            <a:pPr defTabSz="457200">
              <a:lnSpc>
                <a:spcPct val="200000"/>
              </a:lnSpc>
              <a:defRPr sz="1200">
                <a:latin typeface="Times Roman"/>
                <a:ea typeface="Times Roman"/>
                <a:cs typeface="Times Roman"/>
                <a:sym typeface="Times Roman"/>
              </a:defRPr>
            </a:pPr>
            <a:r>
              <a:rPr b="1"/>
              <a:t>R4</a:t>
            </a:r>
            <a:r>
              <a:t> is based on Analytics having the highest conversion rate but lowest pipeline volume. </a:t>
            </a:r>
          </a:p>
          <a:p>
            <a:pPr defTabSz="457200">
              <a:lnSpc>
                <a:spcPct val="200000"/>
              </a:lnSpc>
              <a:defRPr sz="1200">
                <a:latin typeface="Times Roman"/>
                <a:ea typeface="Times Roman"/>
                <a:cs typeface="Times Roman"/>
                <a:sym typeface="Times Roman"/>
              </a:defRPr>
            </a:pPr>
          </a:p>
          <a:p>
            <a:pPr defTabSz="457200">
              <a:lnSpc>
                <a:spcPct val="200000"/>
              </a:lnSpc>
              <a:defRPr sz="1200">
                <a:latin typeface="Times Roman"/>
                <a:ea typeface="Times Roman"/>
                <a:cs typeface="Times Roman"/>
                <a:sym typeface="Times Roman"/>
              </a:defRPr>
            </a:pPr>
            <a:r>
              <a:rPr b="1"/>
              <a:t>R5 </a:t>
            </a:r>
            <a:r>
              <a:t>is based on Legacy Modernization having the lowest conversion rate of all products.</a:t>
            </a: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a:latin typeface="Lato Regular"/>
                <a:ea typeface="Lato Regular"/>
                <a:cs typeface="Lato Regular"/>
                <a:sym typeface="Lato Regular"/>
              </a:defRPr>
            </a:pPr>
          </a:p>
          <a:p>
            <a:pPr>
              <a:defRPr sz="1600">
                <a:latin typeface="Lato Regular"/>
                <a:ea typeface="Lato Regular"/>
                <a:cs typeface="Lato Regular"/>
                <a:sym typeface="Lato Regular"/>
              </a:defRPr>
            </a:pPr>
          </a:p>
          <a:p>
            <a:pPr>
              <a:defRPr sz="1600">
                <a:latin typeface="Lato Regular"/>
                <a:ea typeface="Lato Regular"/>
                <a:cs typeface="Lato Regular"/>
                <a:sym typeface="Lato Regular"/>
              </a:defRPr>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Google Shape;233;p30"/>
          <p:cNvSpPr txBox="1"/>
          <p:nvPr>
            <p:ph type="title"/>
          </p:nvPr>
        </p:nvSpPr>
        <p:spPr>
          <a:xfrm>
            <a:off x="838200" y="305164"/>
            <a:ext cx="10515600" cy="1325564"/>
          </a:xfrm>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25" name="TechnoServe's conversion rate dropped to 22.6% due to 3 fixable root causes."/>
          <p:cNvSpPr txBox="1"/>
          <p:nvPr/>
        </p:nvSpPr>
        <p:spPr>
          <a:xfrm>
            <a:off x="2748986" y="1884141"/>
            <a:ext cx="6694027" cy="28882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TechnoServe's conversion rate dropped to 22.6% due to 3 fixable root causes.</a:t>
            </a:r>
          </a:p>
        </p:txBody>
      </p:sp>
      <p:sp>
        <p:nvSpPr>
          <p:cNvPr id="226" name="Root Cause 1: Wrong Channel Mix…"/>
          <p:cNvSpPr txBox="1"/>
          <p:nvPr/>
        </p:nvSpPr>
        <p:spPr>
          <a:xfrm>
            <a:off x="487281" y="2875279"/>
            <a:ext cx="3450781"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Root Cause 1: Wrong Channel Mix</a:t>
            </a:r>
            <a:endParaRPr b="0"/>
          </a:p>
          <a:p>
            <a:pPr defTabSz="457200">
              <a:spcBef>
                <a:spcPts val="1200"/>
              </a:spcBef>
              <a:defRPr sz="1200">
                <a:latin typeface="Times Roman"/>
                <a:ea typeface="Times Roman"/>
                <a:cs typeface="Times Roman"/>
                <a:sym typeface="Times Roman"/>
              </a:defRPr>
            </a:pPr>
            <a:r>
              <a:t>Online Leads drag the overall rate down to 6.5% while Enterprise Sellers sit at 27.6% but are under-scaled.</a:t>
            </a:r>
          </a:p>
        </p:txBody>
      </p:sp>
      <p:sp>
        <p:nvSpPr>
          <p:cNvPr id="227" name="Root Cause 2: Wrong Deal Size Focus…"/>
          <p:cNvSpPr txBox="1"/>
          <p:nvPr/>
        </p:nvSpPr>
        <p:spPr>
          <a:xfrm>
            <a:off x="4218347" y="2875279"/>
            <a:ext cx="3755306"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Root Cause 2: Wrong Deal Size Focus</a:t>
            </a:r>
            <a:endParaRPr b="0"/>
          </a:p>
          <a:p>
            <a:pPr defTabSz="457200">
              <a:spcBef>
                <a:spcPts val="1200"/>
              </a:spcBef>
              <a:defRPr sz="1200">
                <a:latin typeface="Times Roman"/>
                <a:ea typeface="Times Roman"/>
                <a:cs typeface="Times Roman"/>
                <a:sym typeface="Times Roman"/>
              </a:defRPr>
            </a:pPr>
            <a:r>
              <a:t>The largest volume segment (40K–50K deals) converts at only 11.7%. Small deals convert at 39.9% but are ignored.</a:t>
            </a:r>
          </a:p>
        </p:txBody>
      </p:sp>
      <p:sp>
        <p:nvSpPr>
          <p:cNvPr id="228" name="Root Cause 3: Neglecting Existing Clients…"/>
          <p:cNvSpPr txBox="1"/>
          <p:nvPr/>
        </p:nvSpPr>
        <p:spPr>
          <a:xfrm>
            <a:off x="8253938" y="2875279"/>
            <a:ext cx="3647428"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Root Cause 3: Neglecting Existing Clients</a:t>
            </a:r>
            <a:endParaRPr b="0"/>
          </a:p>
          <a:p>
            <a:pPr defTabSz="457200">
              <a:spcBef>
                <a:spcPts val="1200"/>
              </a:spcBef>
              <a:defRPr sz="1200">
                <a:latin typeface="Times Roman"/>
                <a:ea typeface="Times Roman"/>
                <a:cs typeface="Times Roman"/>
                <a:sym typeface="Times Roman"/>
              </a:defRPr>
            </a:pPr>
            <a:r>
              <a:t>88% of pipeline is new clients who convert at 17.3%. Existing clients convert at 47–83% but are underutilised.</a:t>
            </a:r>
          </a:p>
        </p:txBody>
      </p:sp>
      <p:sp>
        <p:nvSpPr>
          <p:cNvPr id="229" name="SO WHAT - What we must do:…"/>
          <p:cNvSpPr txBox="1"/>
          <p:nvPr/>
        </p:nvSpPr>
        <p:spPr>
          <a:xfrm>
            <a:off x="3263245" y="4685034"/>
            <a:ext cx="5940435" cy="1050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200">
                <a:latin typeface="+mn-lt"/>
                <a:ea typeface="+mn-ea"/>
                <a:cs typeface="+mn-cs"/>
                <a:sym typeface="Helvetica"/>
              </a:defRPr>
            </a:pPr>
            <a:r>
              <a:t>SO WHAT - What we must do:</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200">
                <a:latin typeface="+mn-lt"/>
                <a:ea typeface="+mn-ea"/>
                <a:cs typeface="+mn-cs"/>
                <a:sym typeface="Helvetica"/>
              </a:defRPr>
            </a:pPr>
          </a:p>
          <a:p>
            <a:pPr marL="187157" indent="-187157">
              <a:buSzPct val="100000"/>
              <a:buAutoNum type="arabicPeriod" startAt="1"/>
            </a:pPr>
            <a:r>
              <a:t>Reallocate investment from Online Leads → Enterprise Sellers </a:t>
            </a:r>
          </a:p>
          <a:p>
            <a:pPr marL="187157" indent="-187157">
              <a:buSzPct val="100000"/>
              <a:buAutoNum type="arabicPeriod" startAt="1"/>
            </a:pPr>
            <a:r>
              <a:t> Rebalance pipeline toward smaller deals (≤ 20K)</a:t>
            </a:r>
          </a:p>
          <a:p>
            <a:pPr marL="187157" indent="-187157">
              <a:buSzPct val="100000"/>
              <a:buAutoNum type="arabicPeriod" startAt="1"/>
            </a:pPr>
            <a:r>
              <a:t> Launch an upsell/retention programme for existing clients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Google Shape;239;p31"/>
          <p:cNvSpPr txBox="1"/>
          <p:nvPr>
            <p:ph type="title"/>
          </p:nvPr>
        </p:nvSpPr>
        <p:spPr>
          <a:xfrm>
            <a:off x="838200" y="305164"/>
            <a:ext cx="10515600" cy="1325564"/>
          </a:xfrm>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34" name="These 3 variables explain most of the conversion drop and point directly to the solution."/>
          <p:cNvSpPr txBox="1"/>
          <p:nvPr/>
        </p:nvSpPr>
        <p:spPr>
          <a:xfrm>
            <a:off x="2911768" y="6024666"/>
            <a:ext cx="6963245" cy="28882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These 3 variables explain most of the conversion drop and point directly to the solution.</a:t>
            </a:r>
          </a:p>
        </p:txBody>
      </p:sp>
      <p:pic>
        <p:nvPicPr>
          <p:cNvPr id="235" name="Screenshot 2026-05-31 at 8.51.33 PM.png" descr="Screenshot 2026-05-31 at 8.51.33 PM.png"/>
          <p:cNvPicPr>
            <a:picLocks noChangeAspect="1"/>
          </p:cNvPicPr>
          <p:nvPr/>
        </p:nvPicPr>
        <p:blipFill>
          <a:blip r:embed="rId3">
            <a:extLst/>
          </a:blip>
          <a:stretch>
            <a:fillRect/>
          </a:stretch>
        </p:blipFill>
        <p:spPr>
          <a:xfrm>
            <a:off x="872349" y="2064019"/>
            <a:ext cx="3510899" cy="2119651"/>
          </a:xfrm>
          <a:prstGeom prst="rect">
            <a:avLst/>
          </a:prstGeom>
          <a:ln w="12700">
            <a:miter lim="400000"/>
          </a:ln>
        </p:spPr>
      </p:pic>
      <p:pic>
        <p:nvPicPr>
          <p:cNvPr id="236" name="Screenshot 2026-05-31 at 8.56.06 PM.png" descr="Screenshot 2026-05-31 at 8.56.06 PM.png"/>
          <p:cNvPicPr>
            <a:picLocks noChangeAspect="1"/>
          </p:cNvPicPr>
          <p:nvPr/>
        </p:nvPicPr>
        <p:blipFill>
          <a:blip r:embed="rId4">
            <a:extLst/>
          </a:blip>
          <a:stretch>
            <a:fillRect/>
          </a:stretch>
        </p:blipFill>
        <p:spPr>
          <a:xfrm>
            <a:off x="4454401" y="2035330"/>
            <a:ext cx="3625878" cy="2177029"/>
          </a:xfrm>
          <a:prstGeom prst="rect">
            <a:avLst/>
          </a:prstGeom>
          <a:ln w="12700">
            <a:miter lim="400000"/>
          </a:ln>
        </p:spPr>
      </p:pic>
      <p:pic>
        <p:nvPicPr>
          <p:cNvPr id="237" name="Screenshot 2026-05-31 at 8.57.18 PM.png" descr="Screenshot 2026-05-31 at 8.57.18 PM.png"/>
          <p:cNvPicPr>
            <a:picLocks noChangeAspect="1"/>
          </p:cNvPicPr>
          <p:nvPr/>
        </p:nvPicPr>
        <p:blipFill>
          <a:blip r:embed="rId5">
            <a:extLst/>
          </a:blip>
          <a:stretch>
            <a:fillRect/>
          </a:stretch>
        </p:blipFill>
        <p:spPr>
          <a:xfrm>
            <a:off x="8237589" y="2047343"/>
            <a:ext cx="3558436" cy="2153003"/>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Google Shape;245;p32"/>
          <p:cNvSpPr txBox="1"/>
          <p:nvPr>
            <p:ph type="title"/>
          </p:nvPr>
        </p:nvSpPr>
        <p:spPr>
          <a:xfrm>
            <a:off x="838200" y="305164"/>
            <a:ext cx="10515600" cy="1325564"/>
          </a:xfrm>
          <a:prstGeom prst="rect">
            <a:avLst/>
          </a:prstGeom>
        </p:spPr>
        <p:txBody>
          <a:bodyPr/>
          <a:lstStyle/>
          <a:p>
            <a:pPr algn="ctr">
              <a:defRPr sz="3500">
                <a:solidFill>
                  <a:srgbClr val="EF413D"/>
                </a:solidFill>
                <a:latin typeface="Lato Bold"/>
                <a:ea typeface="Lato Bold"/>
                <a:cs typeface="Lato Bold"/>
                <a:sym typeface="Lato Bold"/>
              </a:defRPr>
            </a:pPr>
            <a:br/>
            <a:r>
              <a:rPr sz="1000"/>
              <a:t> </a:t>
            </a:r>
            <a:br>
              <a:rPr sz="1000"/>
            </a:br>
            <a:r>
              <a:rPr sz="3000">
                <a:solidFill>
                  <a:srgbClr val="5A5A5A"/>
                </a:solidFill>
                <a:latin typeface="Lato Regular"/>
                <a:ea typeface="Lato Regular"/>
                <a:cs typeface="Lato Regular"/>
                <a:sym typeface="Lato Regular"/>
              </a:rPr>
              <a:t>Sales Pipeline Conversion at a SaaS Startup</a:t>
            </a:r>
          </a:p>
        </p:txBody>
      </p:sp>
      <p:sp>
        <p:nvSpPr>
          <p:cNvPr id="242" name="Action Plan to Restore Conversion Rate to 35%+"/>
          <p:cNvSpPr txBox="1"/>
          <p:nvPr/>
        </p:nvSpPr>
        <p:spPr>
          <a:xfrm>
            <a:off x="2768168" y="1605373"/>
            <a:ext cx="665566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28600" indent="-228600">
              <a:lnSpc>
                <a:spcPct val="90000"/>
              </a:lnSpc>
              <a:spcBef>
                <a:spcPts val="1000"/>
              </a:spcBef>
              <a:defRPr sz="2400">
                <a:latin typeface="Lato Bold"/>
                <a:ea typeface="Lato Bold"/>
                <a:cs typeface="Lato Bold"/>
                <a:sym typeface="Lato Bold"/>
              </a:defRPr>
            </a:lvl1pPr>
          </a:lstStyle>
          <a:p>
            <a:pPr/>
            <a:r>
              <a:t>Action Plan to Restore Conversion Rate to 35%+</a:t>
            </a:r>
          </a:p>
        </p:txBody>
      </p:sp>
      <p:sp>
        <p:nvSpPr>
          <p:cNvPr id="243" name="Action 1: Upsell Existing Clients — Highest ROI…"/>
          <p:cNvSpPr txBox="1"/>
          <p:nvPr/>
        </p:nvSpPr>
        <p:spPr>
          <a:xfrm>
            <a:off x="459458" y="2529629"/>
            <a:ext cx="4141313" cy="1285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Action 1: Upsell Existing Clients — Highest ROI</a:t>
            </a:r>
            <a:endParaRPr b="0"/>
          </a:p>
          <a:p>
            <a:pPr defTabSz="457200">
              <a:spcBef>
                <a:spcPts val="1200"/>
              </a:spcBef>
              <a:defRPr sz="1200">
                <a:latin typeface="Times Roman"/>
                <a:ea typeface="Times Roman"/>
                <a:cs typeface="Times Roman"/>
                <a:sym typeface="Times Roman"/>
              </a:defRPr>
            </a:pPr>
            <a:r>
              <a:t>Prior clients convert 3–5x better. Invest in account management and upselling. Goal: shift 10% of pipeline to prior business status within 12 months.</a:t>
            </a:r>
          </a:p>
        </p:txBody>
      </p:sp>
      <p:sp>
        <p:nvSpPr>
          <p:cNvPr id="244" name="Action 2: Shift to Smaller Deals…"/>
          <p:cNvSpPr txBox="1"/>
          <p:nvPr/>
        </p:nvSpPr>
        <p:spPr>
          <a:xfrm>
            <a:off x="6384409" y="2618529"/>
            <a:ext cx="4141313"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Action 2: Shift to Smaller Deals</a:t>
            </a:r>
            <a:endParaRPr b="0"/>
          </a:p>
          <a:p>
            <a:pPr defTabSz="457200">
              <a:spcBef>
                <a:spcPts val="1200"/>
              </a:spcBef>
              <a:defRPr sz="1200">
                <a:latin typeface="Times Roman"/>
                <a:ea typeface="Times Roman"/>
                <a:cs typeface="Times Roman"/>
                <a:sym typeface="Times Roman"/>
              </a:defRPr>
            </a:pPr>
            <a:r>
              <a:t>Increase proportion of deals under 20K from current levels to 50% of pipeline. Incentivise reps on faster closing smaller deals.</a:t>
            </a:r>
          </a:p>
        </p:txBody>
      </p:sp>
      <p:sp>
        <p:nvSpPr>
          <p:cNvPr id="245" name="Action 3: Defund Online Leads — Scale Enterprise Sellers…"/>
          <p:cNvSpPr txBox="1"/>
          <p:nvPr/>
        </p:nvSpPr>
        <p:spPr>
          <a:xfrm>
            <a:off x="255872" y="4808949"/>
            <a:ext cx="4141313"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Action 3: Defund Online Leads — Scale Enterprise Sellers</a:t>
            </a:r>
            <a:endParaRPr b="0"/>
          </a:p>
          <a:p>
            <a:pPr defTabSz="457200">
              <a:spcBef>
                <a:spcPts val="1200"/>
              </a:spcBef>
              <a:defRPr sz="1200">
                <a:latin typeface="Times Roman"/>
                <a:ea typeface="Times Roman"/>
                <a:cs typeface="Times Roman"/>
                <a:sym typeface="Times Roman"/>
              </a:defRPr>
            </a:pPr>
            <a:r>
              <a:t>Reallocate Online Leads budget to hire and train more Enterprise Sellers especially in Mumbai which is the best performing city.</a:t>
            </a:r>
          </a:p>
        </p:txBody>
      </p:sp>
      <p:sp>
        <p:nvSpPr>
          <p:cNvPr id="246" name="Action 4: Fix Product Mix…"/>
          <p:cNvSpPr txBox="1"/>
          <p:nvPr/>
        </p:nvSpPr>
        <p:spPr>
          <a:xfrm>
            <a:off x="6182678" y="4713771"/>
            <a:ext cx="4544774"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200">
                <a:latin typeface="Times Roman"/>
                <a:ea typeface="Times Roman"/>
                <a:cs typeface="Times Roman"/>
                <a:sym typeface="Times Roman"/>
              </a:defRPr>
            </a:pPr>
            <a:r>
              <a:t>Action 4: Fix Product Mix</a:t>
            </a:r>
            <a:endParaRPr b="0"/>
          </a:p>
          <a:p>
            <a:pPr defTabSz="457200">
              <a:spcBef>
                <a:spcPts val="1200"/>
              </a:spcBef>
              <a:defRPr sz="1200">
                <a:latin typeface="Times Roman"/>
                <a:ea typeface="Times Roman"/>
                <a:cs typeface="Times Roman"/>
                <a:sym typeface="Times Roman"/>
              </a:defRPr>
            </a:pPr>
            <a:r>
              <a:t>Grow Analytics pipeline aggressively. Review and revamp Legacy Modernization value proposition within 6 months.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